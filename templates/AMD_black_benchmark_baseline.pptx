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C1A968">
                <a:alpha val="100000"/>
              </a:srgbClr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Test A</c:v>
                </c:pt>
                <c:pt idx="1">
                  <c:v>Test B</c:v>
                </c:pt>
                <c:pt idx="2">
                  <c:v>Test C</c:v>
                </c:pt>
                <c:pt idx="3">
                  <c:v>Test D</c:v>
                </c:pt>
                <c:pt idx="4">
                  <c:v>Test E</c:v>
                </c:pt>
                <c:pt idx="5">
                  <c:v>Test 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BB-45E8-B2C0-8888686715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Candidate</c:v>
                </c:pt>
              </c:strCache>
            </c:strRef>
          </c:tx>
          <c:spPr>
            <a:solidFill>
              <a:srgbClr val="00C2DE">
                <a:alpha val="100000"/>
              </a:srgbClr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Test A</c:v>
                </c:pt>
                <c:pt idx="1">
                  <c:v>Test B</c:v>
                </c:pt>
                <c:pt idx="2">
                  <c:v>Test C</c:v>
                </c:pt>
                <c:pt idx="3">
                  <c:v>Test D</c:v>
                </c:pt>
                <c:pt idx="4">
                  <c:v>Test E</c:v>
                </c:pt>
                <c:pt idx="5">
                  <c:v>Test F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127</c:v>
                </c:pt>
                <c:pt idx="1">
                  <c:v>132</c:v>
                </c:pt>
                <c:pt idx="2">
                  <c:v>123</c:v>
                </c:pt>
                <c:pt idx="3">
                  <c:v>111</c:v>
                </c:pt>
                <c:pt idx="4">
                  <c:v>109</c:v>
                </c:pt>
                <c:pt idx="5">
                  <c:v>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BB-45E8-B2C0-8888686715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8890" cap="flat">
            <a:solidFill>
              <a:srgbClr val="59595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635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A6A6A6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A6A6A6"/>
                    </a:solidFill>
                    <a:latin typeface="Arial"/>
                  </a:rPr>
                  <a:t>Performance Index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8890" cap="flat">
            <a:solidFill>
              <a:srgbClr val="59595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000000"/>
        </a:solidFill>
        <a:ln w="7620" cap="flat">
          <a:solidFill>
            <a:srgbClr val="40404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C1A968">
                <a:alpha val="100000"/>
              </a:srgbClr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Test A</c:v>
                </c:pt>
                <c:pt idx="1">
                  <c:v>Test B</c:v>
                </c:pt>
                <c:pt idx="2">
                  <c:v>Test C</c:v>
                </c:pt>
                <c:pt idx="3">
                  <c:v>Test D</c:v>
                </c:pt>
                <c:pt idx="4">
                  <c:v>Test E</c:v>
                </c:pt>
                <c:pt idx="5">
                  <c:v>Test 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0C-4FF9-9453-49AF06C981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Candidate</c:v>
                </c:pt>
              </c:strCache>
            </c:strRef>
          </c:tx>
          <c:spPr>
            <a:solidFill>
              <a:srgbClr val="00C2DE">
                <a:alpha val="100000"/>
              </a:srgbClr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Test A</c:v>
                </c:pt>
                <c:pt idx="1">
                  <c:v>Test B</c:v>
                </c:pt>
                <c:pt idx="2">
                  <c:v>Test C</c:v>
                </c:pt>
                <c:pt idx="3">
                  <c:v>Test D</c:v>
                </c:pt>
                <c:pt idx="4">
                  <c:v>Test E</c:v>
                </c:pt>
                <c:pt idx="5">
                  <c:v>Test F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127</c:v>
                </c:pt>
                <c:pt idx="1">
                  <c:v>132</c:v>
                </c:pt>
                <c:pt idx="2">
                  <c:v>123</c:v>
                </c:pt>
                <c:pt idx="3">
                  <c:v>111</c:v>
                </c:pt>
                <c:pt idx="4">
                  <c:v>109</c:v>
                </c:pt>
                <c:pt idx="5">
                  <c:v>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0C-4FF9-9453-49AF06C981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8890" cap="flat">
            <a:solidFill>
              <a:srgbClr val="59595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635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A6A6A6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A6A6A6"/>
                    </a:solidFill>
                    <a:latin typeface="Arial"/>
                  </a:rPr>
                  <a:t>Performance Index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8890" cap="flat">
            <a:solidFill>
              <a:srgbClr val="59595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000000"/>
        </a:solidFill>
        <a:ln w="7620" cap="flat">
          <a:solidFill>
            <a:srgbClr val="40404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ln w="28575" cap="flat">
              <a:solidFill>
                <a:srgbClr val="C1A96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1A968"/>
              </a:solidFill>
              <a:ln w="12700" cap="flat">
                <a:solidFill>
                  <a:srgbClr val="C1A968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64K</c:v>
                </c:pt>
                <c:pt idx="1">
                  <c:v>256K</c:v>
                </c:pt>
                <c:pt idx="2">
                  <c:v>1M</c:v>
                </c:pt>
                <c:pt idx="3">
                  <c:v>4M</c:v>
                </c:pt>
                <c:pt idx="4">
                  <c:v>16M</c:v>
                </c:pt>
                <c:pt idx="5">
                  <c:v>64M</c:v>
                </c:pt>
                <c:pt idx="6">
                  <c:v>256M</c:v>
                </c:pt>
                <c:pt idx="7">
                  <c:v>1G</c:v>
                </c:pt>
                <c:pt idx="8">
                  <c:v>4G</c:v>
                </c:pt>
                <c:pt idx="9">
                  <c:v>16G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32</c:v>
                </c:pt>
                <c:pt idx="4">
                  <c:v>73</c:v>
                </c:pt>
                <c:pt idx="5">
                  <c:v>153</c:v>
                </c:pt>
                <c:pt idx="6">
                  <c:v>204</c:v>
                </c:pt>
                <c:pt idx="7">
                  <c:v>344</c:v>
                </c:pt>
                <c:pt idx="8">
                  <c:v>348</c:v>
                </c:pt>
                <c:pt idx="9">
                  <c:v>349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2F3-4A05-B2BD-35B6A1455D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Candidate</c:v>
                </c:pt>
              </c:strCache>
            </c:strRef>
          </c:tx>
          <c:spPr>
            <a:ln w="28575" cap="flat">
              <a:solidFill>
                <a:srgbClr val="00C2D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C2DE"/>
              </a:solidFill>
              <a:ln w="12700" cap="flat">
                <a:solidFill>
                  <a:srgbClr val="00C2DE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64K</c:v>
                </c:pt>
                <c:pt idx="1">
                  <c:v>256K</c:v>
                </c:pt>
                <c:pt idx="2">
                  <c:v>1M</c:v>
                </c:pt>
                <c:pt idx="3">
                  <c:v>4M</c:v>
                </c:pt>
                <c:pt idx="4">
                  <c:v>16M</c:v>
                </c:pt>
                <c:pt idx="5">
                  <c:v>64M</c:v>
                </c:pt>
                <c:pt idx="6">
                  <c:v>256M</c:v>
                </c:pt>
                <c:pt idx="7">
                  <c:v>1G</c:v>
                </c:pt>
                <c:pt idx="8">
                  <c:v>4G</c:v>
                </c:pt>
                <c:pt idx="9">
                  <c:v>16G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</c:v>
                </c:pt>
                <c:pt idx="1">
                  <c:v>6</c:v>
                </c:pt>
                <c:pt idx="2">
                  <c:v>12</c:v>
                </c:pt>
                <c:pt idx="3">
                  <c:v>36</c:v>
                </c:pt>
                <c:pt idx="4">
                  <c:v>82</c:v>
                </c:pt>
                <c:pt idx="5">
                  <c:v>163</c:v>
                </c:pt>
                <c:pt idx="6">
                  <c:v>214</c:v>
                </c:pt>
                <c:pt idx="7">
                  <c:v>343</c:v>
                </c:pt>
                <c:pt idx="8">
                  <c:v>357</c:v>
                </c:pt>
                <c:pt idx="9">
                  <c:v>362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2F3-4A05-B2BD-35B6A1455D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A6A6A6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A6A6A6"/>
                    </a:solidFill>
                    <a:latin typeface="Arial"/>
                  </a:rPr>
                  <a:t>Input size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8890" cap="flat">
            <a:solidFill>
              <a:srgbClr val="59595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635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A6A6A6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A6A6A6"/>
                    </a:solidFill>
                    <a:latin typeface="Arial"/>
                  </a:rPr>
                  <a:t>Throughput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8890" cap="flat">
            <a:solidFill>
              <a:srgbClr val="59595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80"/>
      </c:valAx>
      <c:spPr>
        <a:solidFill>
          <a:srgbClr val="000000"/>
        </a:solidFill>
        <a:ln w="7620" cap="flat">
          <a:solidFill>
            <a:srgbClr val="40404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ln w="28575" cap="flat">
              <a:solidFill>
                <a:srgbClr val="C1A96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1A968"/>
              </a:solidFill>
              <a:ln w="12700" cap="flat">
                <a:solidFill>
                  <a:srgbClr val="C1A968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64K</c:v>
                </c:pt>
                <c:pt idx="1">
                  <c:v>256K</c:v>
                </c:pt>
                <c:pt idx="2">
                  <c:v>1M</c:v>
                </c:pt>
                <c:pt idx="3">
                  <c:v>4M</c:v>
                </c:pt>
                <c:pt idx="4">
                  <c:v>16M</c:v>
                </c:pt>
                <c:pt idx="5">
                  <c:v>64M</c:v>
                </c:pt>
                <c:pt idx="6">
                  <c:v>256M</c:v>
                </c:pt>
                <c:pt idx="7">
                  <c:v>1G</c:v>
                </c:pt>
                <c:pt idx="8">
                  <c:v>4G</c:v>
                </c:pt>
                <c:pt idx="9">
                  <c:v>16G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32</c:v>
                </c:pt>
                <c:pt idx="4">
                  <c:v>73</c:v>
                </c:pt>
                <c:pt idx="5">
                  <c:v>153</c:v>
                </c:pt>
                <c:pt idx="6">
                  <c:v>204</c:v>
                </c:pt>
                <c:pt idx="7">
                  <c:v>344</c:v>
                </c:pt>
                <c:pt idx="8">
                  <c:v>348</c:v>
                </c:pt>
                <c:pt idx="9">
                  <c:v>349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1C-41BF-A17A-16E38D0049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Candidate</c:v>
                </c:pt>
              </c:strCache>
            </c:strRef>
          </c:tx>
          <c:spPr>
            <a:ln w="28575" cap="flat">
              <a:solidFill>
                <a:srgbClr val="00C2D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C2DE"/>
              </a:solidFill>
              <a:ln w="12700" cap="flat">
                <a:solidFill>
                  <a:srgbClr val="00C2DE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64K</c:v>
                </c:pt>
                <c:pt idx="1">
                  <c:v>256K</c:v>
                </c:pt>
                <c:pt idx="2">
                  <c:v>1M</c:v>
                </c:pt>
                <c:pt idx="3">
                  <c:v>4M</c:v>
                </c:pt>
                <c:pt idx="4">
                  <c:v>16M</c:v>
                </c:pt>
                <c:pt idx="5">
                  <c:v>64M</c:v>
                </c:pt>
                <c:pt idx="6">
                  <c:v>256M</c:v>
                </c:pt>
                <c:pt idx="7">
                  <c:v>1G</c:v>
                </c:pt>
                <c:pt idx="8">
                  <c:v>4G</c:v>
                </c:pt>
                <c:pt idx="9">
                  <c:v>16G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</c:v>
                </c:pt>
                <c:pt idx="1">
                  <c:v>6</c:v>
                </c:pt>
                <c:pt idx="2">
                  <c:v>12</c:v>
                </c:pt>
                <c:pt idx="3">
                  <c:v>36</c:v>
                </c:pt>
                <c:pt idx="4">
                  <c:v>82</c:v>
                </c:pt>
                <c:pt idx="5">
                  <c:v>163</c:v>
                </c:pt>
                <c:pt idx="6">
                  <c:v>214</c:v>
                </c:pt>
                <c:pt idx="7">
                  <c:v>343</c:v>
                </c:pt>
                <c:pt idx="8">
                  <c:v>357</c:v>
                </c:pt>
                <c:pt idx="9">
                  <c:v>362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1C-41BF-A17A-16E38D004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A6A6A6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A6A6A6"/>
                    </a:solidFill>
                    <a:latin typeface="Arial"/>
                  </a:rPr>
                  <a:t>Input size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8890" cap="flat">
            <a:solidFill>
              <a:srgbClr val="59595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635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A6A6A6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A6A6A6"/>
                    </a:solidFill>
                    <a:latin typeface="Arial"/>
                  </a:rPr>
                  <a:t>Throughput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8890" cap="flat">
            <a:solidFill>
              <a:srgbClr val="59595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80"/>
      </c:valAx>
      <c:spPr>
        <a:solidFill>
          <a:srgbClr val="000000"/>
        </a:solidFill>
        <a:ln w="7620" cap="flat">
          <a:solidFill>
            <a:srgbClr val="40404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difference</c:v>
                </c:pt>
              </c:strCache>
            </c:strRef>
          </c:tx>
          <c:spPr>
            <a:solidFill>
              <a:srgbClr val="00C2DE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265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63E-475D-95E9-F923E8766451}"/>
              </c:ext>
            </c:extLst>
          </c:dPt>
          <c:dPt>
            <c:idx val="1"/>
            <c:invertIfNegative val="0"/>
            <c:bubble3D val="0"/>
            <c:spPr>
              <a:solidFill>
                <a:srgbClr val="00C2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63E-475D-95E9-F923E8766451}"/>
              </c:ext>
            </c:extLst>
          </c:dPt>
          <c:dPt>
            <c:idx val="2"/>
            <c:invertIfNegative val="0"/>
            <c:bubble3D val="0"/>
            <c:spPr>
              <a:solidFill>
                <a:srgbClr val="00C2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63E-475D-95E9-F923E8766451}"/>
              </c:ext>
            </c:extLst>
          </c:dPt>
          <c:dPt>
            <c:idx val="3"/>
            <c:invertIfNegative val="0"/>
            <c:bubble3D val="0"/>
            <c:spPr>
              <a:solidFill>
                <a:srgbClr val="00C2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63E-475D-95E9-F923E8766451}"/>
              </c:ext>
            </c:extLst>
          </c:dPt>
          <c:dPt>
            <c:idx val="4"/>
            <c:invertIfNegative val="0"/>
            <c:bubble3D val="0"/>
            <c:spPr>
              <a:solidFill>
                <a:srgbClr val="00C2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63E-475D-95E9-F923E8766451}"/>
              </c:ext>
            </c:extLst>
          </c:dPt>
          <c:dPt>
            <c:idx val="5"/>
            <c:invertIfNegative val="0"/>
            <c:bubble3D val="0"/>
            <c:spPr>
              <a:solidFill>
                <a:srgbClr val="00C2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63E-475D-95E9-F923E8766451}"/>
              </c:ext>
            </c:extLst>
          </c:dPt>
          <c:dPt>
            <c:idx val="6"/>
            <c:invertIfNegative val="0"/>
            <c:bubble3D val="0"/>
            <c:spPr>
              <a:solidFill>
                <a:srgbClr val="00C2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63E-475D-95E9-F923E8766451}"/>
              </c:ext>
            </c:extLst>
          </c:dPt>
          <c:dPt>
            <c:idx val="7"/>
            <c:invertIfNegative val="0"/>
            <c:bubble3D val="0"/>
            <c:spPr>
              <a:solidFill>
                <a:srgbClr val="00C2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63E-475D-95E9-F923E8766451}"/>
              </c:ext>
            </c:extLst>
          </c:dPt>
          <c:dPt>
            <c:idx val="8"/>
            <c:invertIfNegative val="0"/>
            <c:bubble3D val="0"/>
            <c:spPr>
              <a:solidFill>
                <a:srgbClr val="00C2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63E-475D-95E9-F923E8766451}"/>
              </c:ext>
            </c:extLst>
          </c:dPt>
          <c:dPt>
            <c:idx val="9"/>
            <c:invertIfNegative val="0"/>
            <c:bubble3D val="0"/>
            <c:spPr>
              <a:solidFill>
                <a:srgbClr val="F265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63E-475D-95E9-F923E876645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64K</c:v>
                </c:pt>
                <c:pt idx="1">
                  <c:v>128K</c:v>
                </c:pt>
                <c:pt idx="2">
                  <c:v>256K</c:v>
                </c:pt>
                <c:pt idx="3">
                  <c:v>512K</c:v>
                </c:pt>
                <c:pt idx="4">
                  <c:v>1M</c:v>
                </c:pt>
                <c:pt idx="5">
                  <c:v>2M</c:v>
                </c:pt>
                <c:pt idx="6">
                  <c:v>4M</c:v>
                </c:pt>
                <c:pt idx="7">
                  <c:v>8M</c:v>
                </c:pt>
                <c:pt idx="8">
                  <c:v>16M</c:v>
                </c:pt>
                <c:pt idx="9">
                  <c:v>32M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-7.0000000000000007E-2</c:v>
                </c:pt>
                <c:pt idx="1">
                  <c:v>0.32</c:v>
                </c:pt>
                <c:pt idx="2">
                  <c:v>0.18</c:v>
                </c:pt>
                <c:pt idx="3">
                  <c:v>0.16</c:v>
                </c:pt>
                <c:pt idx="4">
                  <c:v>0.15</c:v>
                </c:pt>
                <c:pt idx="5">
                  <c:v>0.45</c:v>
                </c:pt>
                <c:pt idx="6">
                  <c:v>0.43</c:v>
                </c:pt>
                <c:pt idx="7">
                  <c:v>0.36</c:v>
                </c:pt>
                <c:pt idx="8">
                  <c:v>0.38</c:v>
                </c:pt>
                <c:pt idx="9">
                  <c:v>-0.12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63E-475D-95E9-F923E87664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A6A6A6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A6A6A6"/>
                    </a:solidFill>
                    <a:latin typeface="Arial"/>
                  </a:rPr>
                  <a:t>Input size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8890" cap="flat">
            <a:solidFill>
              <a:srgbClr val="59595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-0.4"/>
        </c:scaling>
        <c:delete val="0"/>
        <c:axPos val="l"/>
        <c:majorGridlines>
          <c:spPr>
            <a:ln w="635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A6A6A6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A6A6A6"/>
                    </a:solidFill>
                    <a:latin typeface="Arial"/>
                  </a:rPr>
                  <a:t>Relative difference</a:t>
                </a:r>
              </a:p>
            </c:rich>
          </c:tx>
          <c:overlay val="0"/>
        </c:title>
        <c:numFmt formatCode="0%" sourceLinked="0"/>
        <c:majorTickMark val="out"/>
        <c:minorTickMark val="none"/>
        <c:tickLblPos val="nextTo"/>
        <c:spPr>
          <a:ln w="8890" cap="flat">
            <a:solidFill>
              <a:srgbClr val="59595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000000"/>
        </a:solidFill>
        <a:ln w="7620" cap="flat">
          <a:solidFill>
            <a:srgbClr val="404040"/>
          </a:solidFill>
        </a:ln>
        <a:effectLst/>
      </c:spPr>
    </c:plotArea>
    <c:plotVisOnly val="1"/>
    <c:dispBlanksAs val="gap"/>
    <c:showDLblsOverMax val="1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C1A968">
                <a:alpha val="100000"/>
              </a:srgbClr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P50</c:v>
                </c:pt>
                <c:pt idx="1">
                  <c:v>P75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3F-40F9-A86D-B4F9644866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Candidate</c:v>
                </c:pt>
              </c:strCache>
            </c:strRef>
          </c:tx>
          <c:spPr>
            <a:solidFill>
              <a:srgbClr val="00C2DE">
                <a:alpha val="100000"/>
              </a:srgbClr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P50</c:v>
                </c:pt>
                <c:pt idx="1">
                  <c:v>P75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118</c:v>
                </c:pt>
                <c:pt idx="1">
                  <c:v>124</c:v>
                </c:pt>
                <c:pt idx="2">
                  <c:v>129</c:v>
                </c:pt>
                <c:pt idx="3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3F-40F9-A86D-B4F964486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8890" cap="flat">
            <a:solidFill>
              <a:srgbClr val="59595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635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A6A6A6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A6A6A6"/>
                    </a:solidFill>
                    <a:latin typeface="Arial"/>
                  </a:rPr>
                  <a:t>Index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8890" cap="flat">
            <a:solidFill>
              <a:srgbClr val="59595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000000"/>
        </a:solidFill>
        <a:ln w="7620" cap="flat">
          <a:solidFill>
            <a:srgbClr val="40404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92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benchmark values used to prototype supported slide types. Style inspired by user-provided AMD corporate presentation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benchmark values used to prototype supported slide types. Style inspired by user-provided AMD corporate presentation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benchmark values used to prototype supported slide types. Style inspired by user-provided AMD corporate presentation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benchmark values used to prototype supported slide types. Style inspired by user-provided AMD corporate presentation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benchmark values used to prototype supported slide types. Style inspired by user-provided AMD corporate presentation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benchmark values used to prototype supported slide types. Style inspired by user-provided AMD corporate presentation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benchmark values used to prototype supported slide types. Style inspired by user-provided AMD corporate presentation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C1A968"/>
          </a:solidFill>
          <a:ln w="12700">
            <a:solidFill>
              <a:srgbClr val="C1A96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"/>
            <a:ext cx="12192000" cy="25603"/>
          </a:xfrm>
          <a:prstGeom prst="rect">
            <a:avLst/>
          </a:prstGeom>
          <a:solidFill>
            <a:srgbClr val="00C2DE"/>
          </a:solidFill>
          <a:ln w="12700">
            <a:solidFill>
              <a:srgbClr val="00C2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Comparison by Benchmark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10927080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685800" y="1143000"/>
          <a:ext cx="10927080" cy="5166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C1A968"/>
          </a:solidFill>
          <a:ln w="12700">
            <a:solidFill>
              <a:srgbClr val="C1A96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"/>
            <a:ext cx="12192000" cy="25603"/>
          </a:xfrm>
          <a:prstGeom prst="rect">
            <a:avLst/>
          </a:prstGeom>
          <a:solidFill>
            <a:srgbClr val="00C2DE"/>
          </a:solidFill>
          <a:ln w="12700">
            <a:solidFill>
              <a:srgbClr val="00C2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Comparison by Benchmark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10927080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640080" y="1133856"/>
          <a:ext cx="76352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549640" y="1252728"/>
            <a:ext cx="3063240" cy="0"/>
          </a:xfrm>
          <a:prstGeom prst="line">
            <a:avLst/>
          </a:prstGeom>
          <a:noFill/>
          <a:ln w="10160">
            <a:solidFill>
              <a:srgbClr val="4040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49640" y="1908483"/>
            <a:ext cx="3063240" cy="0"/>
          </a:xfrm>
          <a:prstGeom prst="line">
            <a:avLst/>
          </a:prstGeom>
          <a:noFill/>
          <a:ln w="15240">
            <a:solidFill>
              <a:srgbClr val="C1A96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49640" y="5843016"/>
            <a:ext cx="3063240" cy="0"/>
          </a:xfrm>
          <a:prstGeom prst="line">
            <a:avLst/>
          </a:prstGeom>
          <a:noFill/>
          <a:ln w="10160">
            <a:solidFill>
              <a:srgbClr val="4040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9640" y="1252728"/>
            <a:ext cx="0" cy="4590288"/>
          </a:xfrm>
          <a:prstGeom prst="line">
            <a:avLst/>
          </a:prstGeom>
          <a:noFill/>
          <a:ln w="5715">
            <a:solidFill>
              <a:srgbClr val="4040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15450" y="1252728"/>
            <a:ext cx="0" cy="4590288"/>
          </a:xfrm>
          <a:prstGeom prst="line">
            <a:avLst/>
          </a:prstGeom>
          <a:noFill/>
          <a:ln w="5715">
            <a:solidFill>
              <a:srgbClr val="26262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81260" y="1252728"/>
            <a:ext cx="0" cy="4590288"/>
          </a:xfrm>
          <a:prstGeom prst="line">
            <a:avLst/>
          </a:prstGeom>
          <a:noFill/>
          <a:ln w="5715">
            <a:solidFill>
              <a:srgbClr val="26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847070" y="1252728"/>
            <a:ext cx="0" cy="4590288"/>
          </a:xfrm>
          <a:prstGeom prst="line">
            <a:avLst/>
          </a:prstGeom>
          <a:noFill/>
          <a:ln w="5715">
            <a:solidFill>
              <a:srgbClr val="26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612880" y="1252728"/>
            <a:ext cx="0" cy="4590288"/>
          </a:xfrm>
          <a:prstGeom prst="line">
            <a:avLst/>
          </a:prstGeom>
          <a:noFill/>
          <a:ln w="5715">
            <a:solidFill>
              <a:srgbClr val="4040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49640" y="2564239"/>
            <a:ext cx="306324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49640" y="3219994"/>
            <a:ext cx="306324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549640" y="3875750"/>
            <a:ext cx="306324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49640" y="4531505"/>
            <a:ext cx="306324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49640" y="5187261"/>
            <a:ext cx="306324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95360" y="1289304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9361170" y="1289304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10126980" y="1289304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10892790" y="1289304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8595360" y="1945059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9361170" y="1945059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126980" y="1945059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0892790" y="1945059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595360" y="2600815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9361170" y="2600815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126980" y="2600815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10892790" y="2600815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595360" y="3256570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9361170" y="3256570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126980" y="3256570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10892790" y="3256570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95360" y="3912326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9361170" y="3912326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126980" y="3912326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10892790" y="3912326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8595360" y="4568081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9361170" y="4568081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10126980" y="4568081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0892790" y="4568081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8595360" y="5223837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9361170" y="5223837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0126980" y="5223837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0892790" y="5223837"/>
            <a:ext cx="674370" cy="58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C1A968"/>
          </a:solidFill>
          <a:ln w="12700">
            <a:solidFill>
              <a:srgbClr val="C1A96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"/>
            <a:ext cx="12192000" cy="25603"/>
          </a:xfrm>
          <a:prstGeom prst="rect">
            <a:avLst/>
          </a:prstGeom>
          <a:solidFill>
            <a:srgbClr val="00C2DE"/>
          </a:solidFill>
          <a:ln w="12700">
            <a:solidFill>
              <a:srgbClr val="00C2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Sweep Across Input Size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10927080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685800" y="1143000"/>
          <a:ext cx="10927080" cy="5166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C1A968"/>
          </a:solidFill>
          <a:ln w="12700">
            <a:solidFill>
              <a:srgbClr val="C1A96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"/>
            <a:ext cx="12192000" cy="25603"/>
          </a:xfrm>
          <a:prstGeom prst="rect">
            <a:avLst/>
          </a:prstGeom>
          <a:solidFill>
            <a:srgbClr val="00C2DE"/>
          </a:solidFill>
          <a:ln w="12700">
            <a:solidFill>
              <a:srgbClr val="00C2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Sweep Across Input Size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10927080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640080" y="1133856"/>
          <a:ext cx="76352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549640" y="1252728"/>
            <a:ext cx="3063240" cy="0"/>
          </a:xfrm>
          <a:prstGeom prst="line">
            <a:avLst/>
          </a:prstGeom>
          <a:noFill/>
          <a:ln w="10160">
            <a:solidFill>
              <a:srgbClr val="4040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49640" y="1762760"/>
            <a:ext cx="3063240" cy="0"/>
          </a:xfrm>
          <a:prstGeom prst="line">
            <a:avLst/>
          </a:prstGeom>
          <a:noFill/>
          <a:ln w="15240">
            <a:solidFill>
              <a:srgbClr val="C1A96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49640" y="5843016"/>
            <a:ext cx="3063240" cy="0"/>
          </a:xfrm>
          <a:prstGeom prst="line">
            <a:avLst/>
          </a:prstGeom>
          <a:noFill/>
          <a:ln w="10160">
            <a:solidFill>
              <a:srgbClr val="4040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9640" y="1252728"/>
            <a:ext cx="0" cy="4590288"/>
          </a:xfrm>
          <a:prstGeom prst="line">
            <a:avLst/>
          </a:prstGeom>
          <a:noFill/>
          <a:ln w="5715">
            <a:solidFill>
              <a:srgbClr val="4040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70720" y="1252728"/>
            <a:ext cx="0" cy="4590288"/>
          </a:xfrm>
          <a:prstGeom prst="line">
            <a:avLst/>
          </a:prstGeom>
          <a:noFill/>
          <a:ln w="5715">
            <a:solidFill>
              <a:srgbClr val="26262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591800" y="1252728"/>
            <a:ext cx="0" cy="4590288"/>
          </a:xfrm>
          <a:prstGeom prst="line">
            <a:avLst/>
          </a:prstGeom>
          <a:noFill/>
          <a:ln w="5715">
            <a:solidFill>
              <a:srgbClr val="26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612880" y="1252728"/>
            <a:ext cx="0" cy="4590288"/>
          </a:xfrm>
          <a:prstGeom prst="line">
            <a:avLst/>
          </a:prstGeom>
          <a:noFill/>
          <a:ln w="5715">
            <a:solidFill>
              <a:srgbClr val="4040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49640" y="2272792"/>
            <a:ext cx="306324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49640" y="2782824"/>
            <a:ext cx="306324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49640" y="3292856"/>
            <a:ext cx="306324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549640" y="3802888"/>
            <a:ext cx="306324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49640" y="4312920"/>
            <a:ext cx="306324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49640" y="4822952"/>
            <a:ext cx="306324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49640" y="5332984"/>
            <a:ext cx="306324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0" y="1289304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9616440" y="1289304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10637520" y="1289304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8595360" y="1799336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9616440" y="1799336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637520" y="1799336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95360" y="2309368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4M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9616440" y="2309368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0637520" y="2309368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95360" y="2819400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9616440" y="2819400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10637520" y="2819400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595360" y="3329432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64M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9616440" y="3329432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10637520" y="3329432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595360" y="3839464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256M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9616440" y="3839464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637520" y="3839464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595360" y="4349496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1G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9616440" y="4349496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344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0637520" y="4349496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343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8595360" y="4859528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9616440" y="4859528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348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637520" y="4859528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357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8595360" y="5369560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16G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9616440" y="5369560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349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0637520" y="5369560"/>
            <a:ext cx="929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C1A968"/>
          </a:solidFill>
          <a:ln w="12700">
            <a:solidFill>
              <a:srgbClr val="C1A96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"/>
            <a:ext cx="12192000" cy="25603"/>
          </a:xfrm>
          <a:prstGeom prst="rect">
            <a:avLst/>
          </a:prstGeom>
          <a:solidFill>
            <a:srgbClr val="00C2DE"/>
          </a:solidFill>
          <a:ln w="12700">
            <a:solidFill>
              <a:srgbClr val="00C2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Difference vs Baseline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10927080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685800" y="1143000"/>
          <a:ext cx="10927080" cy="5166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C1A968"/>
          </a:solidFill>
          <a:ln w="12700">
            <a:solidFill>
              <a:srgbClr val="C1A96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"/>
            <a:ext cx="12192000" cy="25603"/>
          </a:xfrm>
          <a:prstGeom prst="rect">
            <a:avLst/>
          </a:prstGeom>
          <a:solidFill>
            <a:srgbClr val="00C2DE"/>
          </a:solidFill>
          <a:ln w="12700">
            <a:solidFill>
              <a:srgbClr val="00C2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Data Matrix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10927080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07008"/>
            <a:ext cx="10744200" cy="0"/>
          </a:xfrm>
          <a:prstGeom prst="line">
            <a:avLst/>
          </a:prstGeom>
          <a:noFill/>
          <a:ln w="10160">
            <a:solidFill>
              <a:srgbClr val="404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18513"/>
            <a:ext cx="10744200" cy="0"/>
          </a:xfrm>
          <a:prstGeom prst="line">
            <a:avLst/>
          </a:prstGeom>
          <a:noFill/>
          <a:ln w="15240">
            <a:solidFill>
              <a:srgbClr val="C1A9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099048"/>
            <a:ext cx="10744200" cy="0"/>
          </a:xfrm>
          <a:prstGeom prst="line">
            <a:avLst/>
          </a:prstGeom>
          <a:noFill/>
          <a:ln w="10160">
            <a:solidFill>
              <a:srgbClr val="404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207008"/>
            <a:ext cx="0" cy="4892040"/>
          </a:xfrm>
          <a:prstGeom prst="line">
            <a:avLst/>
          </a:prstGeom>
          <a:noFill/>
          <a:ln w="5715">
            <a:solidFill>
              <a:srgbClr val="404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22220" y="1207008"/>
            <a:ext cx="0" cy="4892040"/>
          </a:xfrm>
          <a:prstGeom prst="line">
            <a:avLst/>
          </a:prstGeom>
          <a:noFill/>
          <a:ln w="5715">
            <a:solidFill>
              <a:srgbClr val="26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2920" y="1207008"/>
            <a:ext cx="0" cy="4892040"/>
          </a:xfrm>
          <a:prstGeom prst="line">
            <a:avLst/>
          </a:prstGeom>
          <a:noFill/>
          <a:ln w="5715">
            <a:solidFill>
              <a:srgbClr val="26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03620" y="1207008"/>
            <a:ext cx="0" cy="4892040"/>
          </a:xfrm>
          <a:prstGeom prst="line">
            <a:avLst/>
          </a:prstGeom>
          <a:noFill/>
          <a:ln w="5715">
            <a:solidFill>
              <a:srgbClr val="26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94320" y="1207008"/>
            <a:ext cx="0" cy="4892040"/>
          </a:xfrm>
          <a:prstGeom prst="line">
            <a:avLst/>
          </a:prstGeom>
          <a:noFill/>
          <a:ln w="5715">
            <a:solidFill>
              <a:srgbClr val="26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85020" y="1207008"/>
            <a:ext cx="0" cy="4892040"/>
          </a:xfrm>
          <a:prstGeom prst="line">
            <a:avLst/>
          </a:prstGeom>
          <a:noFill/>
          <a:ln w="5715">
            <a:solidFill>
              <a:srgbClr val="26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1207008"/>
            <a:ext cx="0" cy="4892040"/>
          </a:xfrm>
          <a:prstGeom prst="line">
            <a:avLst/>
          </a:prstGeom>
          <a:noFill/>
          <a:ln w="5715">
            <a:solidFill>
              <a:srgbClr val="404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430018"/>
            <a:ext cx="1074420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041523"/>
            <a:ext cx="1074420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653028"/>
            <a:ext cx="1074420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264533"/>
            <a:ext cx="1074420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876038"/>
            <a:ext cx="1074420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487543"/>
            <a:ext cx="10744200" cy="0"/>
          </a:xfrm>
          <a:prstGeom prst="line">
            <a:avLst/>
          </a:prstGeom>
          <a:noFill/>
          <a:ln w="4445">
            <a:solidFill>
              <a:srgbClr val="26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124358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567940" y="124358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A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4358640" y="124358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B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6149340" y="124358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C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7940040" y="124358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D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9730740" y="124358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E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777240" y="185508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64K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567940" y="185508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1.68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358640" y="185508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149340" y="185508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940040" y="185508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1.47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730740" y="185508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77240" y="246659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256K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567940" y="246659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5.38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358640" y="246659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2.24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149340" y="246659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2.07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940040" y="246659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9730740" y="246659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2.82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77240" y="307809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567940" y="307809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11.86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358640" y="307809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8.23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149340" y="307809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6.81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940040" y="307809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5.40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9730740" y="307809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6.22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77240" y="368960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567940" y="368960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79.66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358640" y="368960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35.74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149340" y="368960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30.48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940040" y="368960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47.73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9730740" y="368960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13.67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77240" y="430110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128M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567940" y="430110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189.61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358640" y="430110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52.80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149340" y="430110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42.55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940040" y="430110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122.73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9730740" y="430110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134.98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77240" y="491261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1G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567940" y="491261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345.43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358640" y="491261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56.49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149340" y="491261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40.18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940040" y="491261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246.37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730740" y="4912614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344.00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77240" y="552411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16G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2567940" y="552411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360.31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358640" y="552411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56.91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149340" y="552411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39.44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7940040" y="552411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337.66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9730740" y="5524119"/>
            <a:ext cx="169926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359.08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C1A968"/>
          </a:solidFill>
          <a:ln w="12700">
            <a:solidFill>
              <a:srgbClr val="C1A96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"/>
            <a:ext cx="12192000" cy="25603"/>
          </a:xfrm>
          <a:prstGeom prst="rect">
            <a:avLst/>
          </a:prstGeom>
          <a:solidFill>
            <a:srgbClr val="00C2DE"/>
          </a:solidFill>
          <a:ln w="12700">
            <a:solidFill>
              <a:srgbClr val="00C2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Summary Snapshot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86968"/>
            <a:ext cx="10927080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08760"/>
            <a:ext cx="24483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1892808"/>
            <a:ext cx="24483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Throughput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51560" y="2194560"/>
            <a:ext cx="2265426" cy="0"/>
          </a:xfrm>
          <a:prstGeom prst="line">
            <a:avLst/>
          </a:prstGeom>
          <a:noFill/>
          <a:ln w="15240">
            <a:solidFill>
              <a:srgbClr val="00C2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3018" y="1508760"/>
            <a:ext cx="24483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73018" y="1892808"/>
            <a:ext cx="24483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Gain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64458" y="2194560"/>
            <a:ext cx="2265426" cy="0"/>
          </a:xfrm>
          <a:prstGeom prst="line">
            <a:avLst/>
          </a:prstGeom>
          <a:noFill/>
          <a:ln w="15240">
            <a:solidFill>
              <a:srgbClr val="C1A9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5916" y="1508760"/>
            <a:ext cx="24483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85916" y="1892808"/>
            <a:ext cx="24483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Regression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77356" y="2194560"/>
            <a:ext cx="2265426" cy="0"/>
          </a:xfrm>
          <a:prstGeom prst="line">
            <a:avLst/>
          </a:prstGeom>
          <a:noFill/>
          <a:ln w="15240">
            <a:solidFill>
              <a:srgbClr val="00C2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8814" y="1508760"/>
            <a:ext cx="24483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1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798814" y="1892808"/>
            <a:ext cx="24483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Points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890254" y="2194560"/>
            <a:ext cx="2265426" cy="0"/>
          </a:xfrm>
          <a:prstGeom prst="line">
            <a:avLst/>
          </a:prstGeom>
          <a:noFill/>
          <a:ln w="15240">
            <a:solidFill>
              <a:srgbClr val="C1A968"/>
            </a:solidFill>
            <a:prstDash val="solid"/>
          </a:ln>
        </p:spPr>
      </p:sp>
      <p:graphicFrame>
        <p:nvGraphicFramePr>
          <p:cNvPr id="18" name="Chart 0"/>
          <p:cNvGraphicFramePr/>
          <p:nvPr/>
        </p:nvGraphicFramePr>
        <p:xfrm>
          <a:off x="1097280" y="2514600"/>
          <a:ext cx="99212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39aa4b3-b62d-42bf-8097-75e2c573ddfa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Microsoft Office PowerPoint</Application>
  <PresentationFormat>Widescreen</PresentationFormat>
  <Paragraphs>141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AMD Benchmark Supported Slide Types - Black</dc:title>
  <dc:subject>AMD black benchmark supported slide prototypes</dc:subject>
  <dc:creator>OpenAI</dc:creator>
  <cp:lastModifiedBy>Khan, Ahmed</cp:lastModifiedBy>
  <cp:revision>2</cp:revision>
  <dcterms:created xsi:type="dcterms:W3CDTF">2026-07-27T19:19:17Z</dcterms:created>
  <dcterms:modified xsi:type="dcterms:W3CDTF">2026-07-27T21:43:23Z</dcterms:modified>
</cp:coreProperties>
</file>