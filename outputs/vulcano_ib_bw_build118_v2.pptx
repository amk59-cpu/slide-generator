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QP</c:v>
                </c:pt>
              </c:strCache>
            </c:strRef>
          </c:tx>
          <c:spPr>
            <a:solidFill>
              <a:srgbClr val="C1A968"/>
            </a:solidFill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C1A968"/>
              </a:solidFill>
              <a:ln w="1016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0.###</c:formatCode>
                <c:ptCount val="23"/>
                <c:pt idx="0">
                  <c:v>0.039655</c:v>
                </c:pt>
                <c:pt idx="1">
                  <c:v>0.08024</c:v>
                </c:pt>
                <c:pt idx="2">
                  <c:v>0.16</c:v>
                </c:pt>
                <c:pt idx="3">
                  <c:v>0.32</c:v>
                </c:pt>
                <c:pt idx="4">
                  <c:v>0.65</c:v>
                </c:pt>
                <c:pt idx="5">
                  <c:v>1.28</c:v>
                </c:pt>
                <c:pt idx="6">
                  <c:v>2.55</c:v>
                </c:pt>
                <c:pt idx="7">
                  <c:v>5.1</c:v>
                </c:pt>
                <c:pt idx="8">
                  <c:v>10.17</c:v>
                </c:pt>
                <c:pt idx="9">
                  <c:v>21.85</c:v>
                </c:pt>
                <c:pt idx="10">
                  <c:v>43.34</c:v>
                </c:pt>
                <c:pt idx="11">
                  <c:v>87.75</c:v>
                </c:pt>
                <c:pt idx="12">
                  <c:v>176.53</c:v>
                </c:pt>
                <c:pt idx="13">
                  <c:v>369.99</c:v>
                </c:pt>
                <c:pt idx="14">
                  <c:v>566</c:v>
                </c:pt>
                <c:pt idx="15">
                  <c:v>569.56</c:v>
                </c:pt>
                <c:pt idx="16">
                  <c:v>572.8</c:v>
                </c:pt>
                <c:pt idx="17">
                  <c:v>573.81</c:v>
                </c:pt>
                <c:pt idx="18">
                  <c:v>574.4</c:v>
                </c:pt>
                <c:pt idx="19">
                  <c:v>574.66</c:v>
                </c:pt>
                <c:pt idx="20">
                  <c:v>574.79</c:v>
                </c:pt>
                <c:pt idx="21">
                  <c:v>574.86</c:v>
                </c:pt>
                <c:pt idx="22">
                  <c:v>574.94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QP</c:v>
                </c:pt>
              </c:strCache>
            </c:strRef>
          </c:tx>
          <c:spPr>
            <a:solidFill>
              <a:srgbClr val="00C2DE"/>
            </a:solidFill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00C2DE"/>
              </a:solidFill>
              <a:ln w="1016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0.###</c:formatCode>
                <c:ptCount val="23"/>
                <c:pt idx="0">
                  <c:v>0.06401</c:v>
                </c:pt>
                <c:pt idx="1">
                  <c:v>0.13</c:v>
                </c:pt>
                <c:pt idx="2">
                  <c:v>0.26</c:v>
                </c:pt>
                <c:pt idx="3">
                  <c:v>0.51</c:v>
                </c:pt>
                <c:pt idx="4">
                  <c:v>1.02</c:v>
                </c:pt>
                <c:pt idx="5">
                  <c:v>2.04</c:v>
                </c:pt>
                <c:pt idx="6">
                  <c:v>4.08</c:v>
                </c:pt>
                <c:pt idx="7">
                  <c:v>8.12</c:v>
                </c:pt>
                <c:pt idx="8">
                  <c:v>17.44</c:v>
                </c:pt>
                <c:pt idx="9">
                  <c:v>35.08</c:v>
                </c:pt>
                <c:pt idx="10">
                  <c:v>70.59</c:v>
                </c:pt>
                <c:pt idx="11">
                  <c:v>140.46</c:v>
                </c:pt>
                <c:pt idx="12">
                  <c:v>277.41</c:v>
                </c:pt>
                <c:pt idx="13">
                  <c:v>532.94</c:v>
                </c:pt>
                <c:pt idx="14">
                  <c:v>774.04</c:v>
                </c:pt>
                <c:pt idx="15">
                  <c:v>777.48</c:v>
                </c:pt>
                <c:pt idx="16">
                  <c:v>779.19</c:v>
                </c:pt>
                <c:pt idx="17">
                  <c:v>779.8</c:v>
                </c:pt>
                <c:pt idx="18">
                  <c:v>779.98</c:v>
                </c:pt>
                <c:pt idx="19">
                  <c:v>779.88</c:v>
                </c:pt>
                <c:pt idx="20">
                  <c:v>779.91</c:v>
                </c:pt>
                <c:pt idx="21">
                  <c:v>780.07</c:v>
                </c:pt>
                <c:pt idx="22">
                  <c:v>780.08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QP</c:v>
                </c:pt>
              </c:strCache>
            </c:strRef>
          </c:tx>
          <c:spPr>
            <a:solidFill>
              <a:srgbClr val="5B8FF9"/>
            </a:solidFill>
            <a:ln w="28575" cap="flat">
              <a:solidFill>
                <a:srgbClr val="5B8FF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5B8FF9"/>
              </a:solidFill>
              <a:ln w="10160" cap="flat">
                <a:solidFill>
                  <a:srgbClr val="5B8FF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Sheet1!$D$2:$D$24</c:f>
              <c:numCache>
                <c:formatCode>0.###</c:formatCode>
                <c:ptCount val="23"/>
                <c:pt idx="0">
                  <c:v>0.064938</c:v>
                </c:pt>
                <c:pt idx="1">
                  <c:v>0.13</c:v>
                </c:pt>
                <c:pt idx="2">
                  <c:v>0.26</c:v>
                </c:pt>
                <c:pt idx="3">
                  <c:v>0.52</c:v>
                </c:pt>
                <c:pt idx="4">
                  <c:v>1.03</c:v>
                </c:pt>
                <c:pt idx="5">
                  <c:v>2.08</c:v>
                </c:pt>
                <c:pt idx="6">
                  <c:v>4.14</c:v>
                </c:pt>
                <c:pt idx="7">
                  <c:v>8.32</c:v>
                </c:pt>
                <c:pt idx="8">
                  <c:v>18.29</c:v>
                </c:pt>
                <c:pt idx="9">
                  <c:v>36.65</c:v>
                </c:pt>
                <c:pt idx="10">
                  <c:v>73.15</c:v>
                </c:pt>
                <c:pt idx="11">
                  <c:v>146.01</c:v>
                </c:pt>
                <c:pt idx="12">
                  <c:v>290.02</c:v>
                </c:pt>
                <c:pt idx="13">
                  <c:v>558.76</c:v>
                </c:pt>
                <c:pt idx="14">
                  <c:v>778.56</c:v>
                </c:pt>
                <c:pt idx="15">
                  <c:v>778.87</c:v>
                </c:pt>
                <c:pt idx="16">
                  <c:v>779.59</c:v>
                </c:pt>
                <c:pt idx="17">
                  <c:v>779.87</c:v>
                </c:pt>
                <c:pt idx="18">
                  <c:v>779.98</c:v>
                </c:pt>
                <c:pt idx="19">
                  <c:v>780.05</c:v>
                </c:pt>
                <c:pt idx="20">
                  <c:v>780.04</c:v>
                </c:pt>
                <c:pt idx="21">
                  <c:v>780.08</c:v>
                </c:pt>
                <c:pt idx="22">
                  <c:v>780.1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 QP</c:v>
                </c:pt>
              </c:strCache>
            </c:strRef>
          </c:tx>
          <c:spPr>
            <a:solidFill>
              <a:srgbClr val="3CCB8C"/>
            </a:solidFill>
            <a:ln w="28575" cap="flat">
              <a:solidFill>
                <a:srgbClr val="3CC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3CCB8C"/>
              </a:solidFill>
              <a:ln w="10160" cap="flat">
                <a:solidFill>
                  <a:srgbClr val="3CC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Sheet1!$E$2:$E$24</c:f>
              <c:numCache>
                <c:formatCode>0.###</c:formatCode>
                <c:ptCount val="23"/>
                <c:pt idx="0">
                  <c:v>0.042216</c:v>
                </c:pt>
                <c:pt idx="1">
                  <c:v>0.13</c:v>
                </c:pt>
                <c:pt idx="2">
                  <c:v>0.26</c:v>
                </c:pt>
                <c:pt idx="3">
                  <c:v>0.52</c:v>
                </c:pt>
                <c:pt idx="4">
                  <c:v>1.04</c:v>
                </c:pt>
                <c:pt idx="5">
                  <c:v>2.09</c:v>
                </c:pt>
                <c:pt idx="6">
                  <c:v>4.17</c:v>
                </c:pt>
                <c:pt idx="7">
                  <c:v>8.35</c:v>
                </c:pt>
                <c:pt idx="8">
                  <c:v>18.36</c:v>
                </c:pt>
                <c:pt idx="9">
                  <c:v>36.72</c:v>
                </c:pt>
                <c:pt idx="10">
                  <c:v>73.45</c:v>
                </c:pt>
                <c:pt idx="11">
                  <c:v>146.55</c:v>
                </c:pt>
                <c:pt idx="12">
                  <c:v>291.47</c:v>
                </c:pt>
                <c:pt idx="13">
                  <c:v>565.01</c:v>
                </c:pt>
                <c:pt idx="14">
                  <c:v>779.21</c:v>
                </c:pt>
                <c:pt idx="15">
                  <c:v>779.46</c:v>
                </c:pt>
                <c:pt idx="16">
                  <c:v>779.94</c:v>
                </c:pt>
                <c:pt idx="17">
                  <c:v>780.02</c:v>
                </c:pt>
                <c:pt idx="18">
                  <c:v>780.07</c:v>
                </c:pt>
                <c:pt idx="19">
                  <c:v>780.07</c:v>
                </c:pt>
                <c:pt idx="20">
                  <c:v>780.09</c:v>
                </c:pt>
                <c:pt idx="21">
                  <c:v>780.1</c:v>
                </c:pt>
                <c:pt idx="22">
                  <c:v>780.1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16 QP</c:v>
                </c:pt>
              </c:strCache>
            </c:strRef>
          </c:tx>
          <c:spPr>
            <a:solidFill>
              <a:srgbClr val="D96AA7"/>
            </a:solidFill>
            <a:ln w="28575" cap="flat">
              <a:solidFill>
                <a:srgbClr val="D96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D96AA7"/>
              </a:solidFill>
              <a:ln w="10160" cap="flat">
                <a:solidFill>
                  <a:srgbClr val="D96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Sheet1!$F$2:$F$24</c:f>
              <c:numCache>
                <c:formatCode>0.###</c:formatCode>
                <c:ptCount val="23"/>
                <c:pt idx="0">
                  <c:v>0.041987</c:v>
                </c:pt>
                <c:pt idx="1">
                  <c:v>0.13</c:v>
                </c:pt>
                <c:pt idx="2">
                  <c:v>0.26</c:v>
                </c:pt>
                <c:pt idx="3">
                  <c:v>0.52</c:v>
                </c:pt>
                <c:pt idx="4">
                  <c:v>1.05</c:v>
                </c:pt>
                <c:pt idx="5">
                  <c:v>2.09</c:v>
                </c:pt>
                <c:pt idx="6">
                  <c:v>4.18</c:v>
                </c:pt>
                <c:pt idx="7">
                  <c:v>8.37</c:v>
                </c:pt>
                <c:pt idx="8">
                  <c:v>18.39</c:v>
                </c:pt>
                <c:pt idx="9">
                  <c:v>36.88</c:v>
                </c:pt>
                <c:pt idx="10">
                  <c:v>73.65</c:v>
                </c:pt>
                <c:pt idx="11">
                  <c:v>146.85</c:v>
                </c:pt>
                <c:pt idx="12">
                  <c:v>292.53</c:v>
                </c:pt>
                <c:pt idx="13">
                  <c:v>568.39</c:v>
                </c:pt>
                <c:pt idx="14">
                  <c:v>779.77</c:v>
                </c:pt>
                <c:pt idx="15">
                  <c:v>779.92</c:v>
                </c:pt>
                <c:pt idx="16">
                  <c:v>779.88</c:v>
                </c:pt>
                <c:pt idx="17">
                  <c:v>780.07</c:v>
                </c:pt>
                <c:pt idx="18">
                  <c:v>780.09</c:v>
                </c:pt>
                <c:pt idx="19">
                  <c:v>780.09</c:v>
                </c:pt>
                <c:pt idx="20">
                  <c:v>780.1</c:v>
                </c:pt>
                <c:pt idx="21">
                  <c:v>780.1</c:v>
                </c:pt>
                <c:pt idx="22">
                  <c:v>780.11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32 QP</c:v>
                </c:pt>
              </c:strCache>
            </c:strRef>
          </c:tx>
          <c:spPr>
            <a:solidFill>
              <a:srgbClr val="FF6B2C"/>
            </a:solidFill>
            <a:ln w="28575" cap="flat">
              <a:solidFill>
                <a:srgbClr val="FF6B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FF6B2C"/>
              </a:solidFill>
              <a:ln w="10160" cap="flat">
                <a:solidFill>
                  <a:srgbClr val="FF6B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Sheet1!$G$2:$G$24</c:f>
              <c:numCache>
                <c:formatCode>0.###</c:formatCode>
                <c:ptCount val="23"/>
                <c:pt idx="0">
                  <c:v>0.047775</c:v>
                </c:pt>
                <c:pt idx="1">
                  <c:v>0.13</c:v>
                </c:pt>
                <c:pt idx="2">
                  <c:v>0.26</c:v>
                </c:pt>
                <c:pt idx="3">
                  <c:v>0.53</c:v>
                </c:pt>
                <c:pt idx="4">
                  <c:v>1.05</c:v>
                </c:pt>
                <c:pt idx="5">
                  <c:v>2.09</c:v>
                </c:pt>
                <c:pt idx="6">
                  <c:v>4.21</c:v>
                </c:pt>
                <c:pt idx="7">
                  <c:v>8.42</c:v>
                </c:pt>
                <c:pt idx="8">
                  <c:v>18.57</c:v>
                </c:pt>
                <c:pt idx="9">
                  <c:v>37.14</c:v>
                </c:pt>
                <c:pt idx="10">
                  <c:v>74.1</c:v>
                </c:pt>
                <c:pt idx="11">
                  <c:v>147.71</c:v>
                </c:pt>
                <c:pt idx="12">
                  <c:v>293.67</c:v>
                </c:pt>
                <c:pt idx="13">
                  <c:v>568.81</c:v>
                </c:pt>
                <c:pt idx="14">
                  <c:v>779.9</c:v>
                </c:pt>
                <c:pt idx="15">
                  <c:v>780.02</c:v>
                </c:pt>
                <c:pt idx="16">
                  <c:v>780.09</c:v>
                </c:pt>
                <c:pt idx="17">
                  <c:v>780.06</c:v>
                </c:pt>
                <c:pt idx="18">
                  <c:v>780.1</c:v>
                </c:pt>
                <c:pt idx="19">
                  <c:v>780.1</c:v>
                </c:pt>
                <c:pt idx="20">
                  <c:v>780.11</c:v>
                </c:pt>
                <c:pt idx="21">
                  <c:v>780.11</c:v>
                </c:pt>
                <c:pt idx="22">
                  <c:v>780.11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64 QP</c:v>
                </c:pt>
              </c:strCache>
            </c:strRef>
          </c:tx>
          <c:spPr>
            <a:solidFill>
              <a:srgbClr val="8F7CEC"/>
            </a:solidFill>
            <a:ln w="28575" cap="flat">
              <a:solidFill>
                <a:srgbClr val="8F7C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8F7CEC"/>
              </a:solidFill>
              <a:ln w="10160" cap="flat">
                <a:solidFill>
                  <a:srgbClr val="8F7C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Sheet1!$H$2:$H$24</c:f>
              <c:numCache>
                <c:formatCode>0.###</c:formatCode>
                <c:ptCount val="23"/>
                <c:pt idx="0">
                  <c:v>0.055543</c:v>
                </c:pt>
                <c:pt idx="1">
                  <c:v>0.13</c:v>
                </c:pt>
                <c:pt idx="2">
                  <c:v>0.27</c:v>
                </c:pt>
                <c:pt idx="3">
                  <c:v>0.53</c:v>
                </c:pt>
                <c:pt idx="4">
                  <c:v>1.07</c:v>
                </c:pt>
                <c:pt idx="5">
                  <c:v>2.15</c:v>
                </c:pt>
                <c:pt idx="6">
                  <c:v>4.29</c:v>
                </c:pt>
                <c:pt idx="7">
                  <c:v>8.58</c:v>
                </c:pt>
                <c:pt idx="8">
                  <c:v>19.04</c:v>
                </c:pt>
                <c:pt idx="9">
                  <c:v>38</c:v>
                </c:pt>
                <c:pt idx="10">
                  <c:v>75.91</c:v>
                </c:pt>
                <c:pt idx="11">
                  <c:v>151.32</c:v>
                </c:pt>
                <c:pt idx="12">
                  <c:v>298.63</c:v>
                </c:pt>
                <c:pt idx="13">
                  <c:v>572.96</c:v>
                </c:pt>
                <c:pt idx="14">
                  <c:v>780.02</c:v>
                </c:pt>
                <c:pt idx="15">
                  <c:v>780.06</c:v>
                </c:pt>
                <c:pt idx="16">
                  <c:v>780.09</c:v>
                </c:pt>
                <c:pt idx="17">
                  <c:v>780.08</c:v>
                </c:pt>
                <c:pt idx="18">
                  <c:v>780.09</c:v>
                </c:pt>
                <c:pt idx="19">
                  <c:v>780.09</c:v>
                </c:pt>
                <c:pt idx="20">
                  <c:v>780.09</c:v>
                </c:pt>
                <c:pt idx="21">
                  <c:v>780.1</c:v>
                </c:pt>
                <c:pt idx="22">
                  <c:v>780.09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Message Size (Bytes)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 rot="-2700000"/>
          <a:lstStyle/>
          <a:p>
            <a:pPr>
              <a:defRPr sz="74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Bandwidth (GB/s)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 w="12700" cap="flat">
          <a:solidFill>
            <a:srgbClr val="00000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4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QP</c:v>
                </c:pt>
              </c:strCache>
            </c:strRef>
          </c:tx>
          <c:spPr>
            <a:solidFill>
              <a:srgbClr val="C1A968"/>
            </a:solidFill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C1A968"/>
              </a:solidFill>
              <a:ln w="1016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0.###</c:formatCode>
                <c:ptCount val="23"/>
                <c:pt idx="0">
                  <c:v>0.099347</c:v>
                </c:pt>
                <c:pt idx="1">
                  <c:v>0.200173</c:v>
                </c:pt>
                <c:pt idx="2">
                  <c:v>0.4</c:v>
                </c:pt>
                <c:pt idx="3">
                  <c:v>0.8</c:v>
                </c:pt>
                <c:pt idx="4">
                  <c:v>1.6</c:v>
                </c:pt>
                <c:pt idx="5">
                  <c:v>3.2</c:v>
                </c:pt>
                <c:pt idx="6">
                  <c:v>6.39</c:v>
                </c:pt>
                <c:pt idx="7">
                  <c:v>12.82</c:v>
                </c:pt>
                <c:pt idx="8">
                  <c:v>27.44</c:v>
                </c:pt>
                <c:pt idx="9">
                  <c:v>55.34</c:v>
                </c:pt>
                <c:pt idx="10">
                  <c:v>110.23</c:v>
                </c:pt>
                <c:pt idx="11">
                  <c:v>218.88</c:v>
                </c:pt>
                <c:pt idx="12">
                  <c:v>435.88</c:v>
                </c:pt>
                <c:pt idx="13">
                  <c:v>838.71</c:v>
                </c:pt>
                <c:pt idx="14">
                  <c:v>1137.84</c:v>
                </c:pt>
                <c:pt idx="15">
                  <c:v>1142.89</c:v>
                </c:pt>
                <c:pt idx="16">
                  <c:v>1145.16</c:v>
                </c:pt>
                <c:pt idx="17">
                  <c:v>1145.77</c:v>
                </c:pt>
                <c:pt idx="18">
                  <c:v>1146.06</c:v>
                </c:pt>
                <c:pt idx="19">
                  <c:v>1146.2</c:v>
                </c:pt>
                <c:pt idx="20">
                  <c:v>1146.19</c:v>
                </c:pt>
                <c:pt idx="21">
                  <c:v>1146.25</c:v>
                </c:pt>
                <c:pt idx="22">
                  <c:v>1147.12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QP</c:v>
                </c:pt>
              </c:strCache>
            </c:strRef>
          </c:tx>
          <c:spPr>
            <a:solidFill>
              <a:srgbClr val="00C2DE"/>
            </a:solidFill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00C2DE"/>
              </a:solidFill>
              <a:ln w="1016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0.###</c:formatCode>
                <c:ptCount val="23"/>
                <c:pt idx="0">
                  <c:v>0.08745</c:v>
                </c:pt>
                <c:pt idx="1">
                  <c:v>0.164697</c:v>
                </c:pt>
                <c:pt idx="2">
                  <c:v>0.33</c:v>
                </c:pt>
                <c:pt idx="3">
                  <c:v>0.65</c:v>
                </c:pt>
                <c:pt idx="4">
                  <c:v>1.32</c:v>
                </c:pt>
                <c:pt idx="5">
                  <c:v>2.71</c:v>
                </c:pt>
                <c:pt idx="6">
                  <c:v>5.59</c:v>
                </c:pt>
                <c:pt idx="7">
                  <c:v>14.01</c:v>
                </c:pt>
                <c:pt idx="8">
                  <c:v>29.59</c:v>
                </c:pt>
                <c:pt idx="9">
                  <c:v>69.13</c:v>
                </c:pt>
                <c:pt idx="10">
                  <c:v>137.94</c:v>
                </c:pt>
                <c:pt idx="11">
                  <c:v>274.69</c:v>
                </c:pt>
                <c:pt idx="12">
                  <c:v>536.8</c:v>
                </c:pt>
                <c:pt idx="13">
                  <c:v>1020.4</c:v>
                </c:pt>
                <c:pt idx="14">
                  <c:v>1172.5</c:v>
                </c:pt>
                <c:pt idx="15">
                  <c:v>1552.46</c:v>
                </c:pt>
                <c:pt idx="16">
                  <c:v>1557.88</c:v>
                </c:pt>
                <c:pt idx="17">
                  <c:v>1558.43</c:v>
                </c:pt>
                <c:pt idx="18">
                  <c:v>1559.47</c:v>
                </c:pt>
                <c:pt idx="19">
                  <c:v>1559.25</c:v>
                </c:pt>
                <c:pt idx="20">
                  <c:v>1559.6</c:v>
                </c:pt>
                <c:pt idx="21">
                  <c:v>1559.84</c:v>
                </c:pt>
                <c:pt idx="22">
                  <c:v>1560.01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QP</c:v>
                </c:pt>
              </c:strCache>
            </c:strRef>
          </c:tx>
          <c:spPr>
            <a:solidFill>
              <a:srgbClr val="5B8FF9"/>
            </a:solidFill>
            <a:ln w="28575" cap="flat">
              <a:solidFill>
                <a:srgbClr val="5B8FF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5B8FF9"/>
              </a:solidFill>
              <a:ln w="10160" cap="flat">
                <a:solidFill>
                  <a:srgbClr val="5B8FF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Sheet1!$D$2:$D$24</c:f>
              <c:numCache>
                <c:formatCode>0.###</c:formatCode>
                <c:ptCount val="23"/>
                <c:pt idx="0">
                  <c:v>0.10342</c:v>
                </c:pt>
                <c:pt idx="1">
                  <c:v>0.174762</c:v>
                </c:pt>
                <c:pt idx="2">
                  <c:v>0.35</c:v>
                </c:pt>
                <c:pt idx="3">
                  <c:v>0.85</c:v>
                </c:pt>
                <c:pt idx="4">
                  <c:v>2.03</c:v>
                </c:pt>
                <c:pt idx="5">
                  <c:v>4.06</c:v>
                </c:pt>
                <c:pt idx="6">
                  <c:v>8.15</c:v>
                </c:pt>
                <c:pt idx="7">
                  <c:v>17.42</c:v>
                </c:pt>
                <c:pt idx="8">
                  <c:v>35.82</c:v>
                </c:pt>
                <c:pt idx="9">
                  <c:v>71.64</c:v>
                </c:pt>
                <c:pt idx="10">
                  <c:v>143.1</c:v>
                </c:pt>
                <c:pt idx="11">
                  <c:v>284.55</c:v>
                </c:pt>
                <c:pt idx="12">
                  <c:v>563.92</c:v>
                </c:pt>
                <c:pt idx="13">
                  <c:v>1074.04</c:v>
                </c:pt>
                <c:pt idx="14">
                  <c:v>1061.43</c:v>
                </c:pt>
                <c:pt idx="15">
                  <c:v>1550.26</c:v>
                </c:pt>
                <c:pt idx="16">
                  <c:v>1558.41</c:v>
                </c:pt>
                <c:pt idx="17">
                  <c:v>1559.33</c:v>
                </c:pt>
                <c:pt idx="18">
                  <c:v>1559.75</c:v>
                </c:pt>
                <c:pt idx="19">
                  <c:v>1559.96</c:v>
                </c:pt>
                <c:pt idx="20">
                  <c:v>1560.07</c:v>
                </c:pt>
                <c:pt idx="21">
                  <c:v>1560.17</c:v>
                </c:pt>
                <c:pt idx="22">
                  <c:v>1560.2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 QP</c:v>
                </c:pt>
              </c:strCache>
            </c:strRef>
          </c:tx>
          <c:spPr>
            <a:solidFill>
              <a:srgbClr val="3CCB8C"/>
            </a:solidFill>
            <a:ln w="28575" cap="flat">
              <a:solidFill>
                <a:srgbClr val="3CC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3CCB8C"/>
              </a:solidFill>
              <a:ln w="10160" cap="flat">
                <a:solidFill>
                  <a:srgbClr val="3CC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Sheet1!$E$2:$E$24</c:f>
              <c:numCache>
                <c:formatCode>0.###</c:formatCode>
                <c:ptCount val="23"/>
                <c:pt idx="0">
                  <c:v>0.084227</c:v>
                </c:pt>
                <c:pt idx="1">
                  <c:v>0.26</c:v>
                </c:pt>
                <c:pt idx="2">
                  <c:v>0.51</c:v>
                </c:pt>
                <c:pt idx="3">
                  <c:v>1.02</c:v>
                </c:pt>
                <c:pt idx="4">
                  <c:v>2.05</c:v>
                </c:pt>
                <c:pt idx="5">
                  <c:v>4.12</c:v>
                </c:pt>
                <c:pt idx="6">
                  <c:v>8.22</c:v>
                </c:pt>
                <c:pt idx="7">
                  <c:v>17.61</c:v>
                </c:pt>
                <c:pt idx="8">
                  <c:v>36.15</c:v>
                </c:pt>
                <c:pt idx="9">
                  <c:v>72.2</c:v>
                </c:pt>
                <c:pt idx="10">
                  <c:v>144.06</c:v>
                </c:pt>
                <c:pt idx="11">
                  <c:v>285.94</c:v>
                </c:pt>
                <c:pt idx="12">
                  <c:v>568.41</c:v>
                </c:pt>
                <c:pt idx="13">
                  <c:v>1095.06</c:v>
                </c:pt>
                <c:pt idx="14">
                  <c:v>985.51</c:v>
                </c:pt>
                <c:pt idx="15">
                  <c:v>1461.52</c:v>
                </c:pt>
                <c:pt idx="16">
                  <c:v>1559.77</c:v>
                </c:pt>
                <c:pt idx="17">
                  <c:v>1560.04</c:v>
                </c:pt>
                <c:pt idx="18">
                  <c:v>1560.1</c:v>
                </c:pt>
                <c:pt idx="19">
                  <c:v>1560.21</c:v>
                </c:pt>
                <c:pt idx="20">
                  <c:v>1560.21</c:v>
                </c:pt>
                <c:pt idx="21">
                  <c:v>1560.23</c:v>
                </c:pt>
                <c:pt idx="22">
                  <c:v>1560.2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16 QP</c:v>
                </c:pt>
              </c:strCache>
            </c:strRef>
          </c:tx>
          <c:spPr>
            <a:solidFill>
              <a:srgbClr val="D96AA7"/>
            </a:solidFill>
            <a:ln w="28575" cap="flat">
              <a:solidFill>
                <a:srgbClr val="D96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D96AA7"/>
              </a:solidFill>
              <a:ln w="10160" cap="flat">
                <a:solidFill>
                  <a:srgbClr val="D96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Sheet1!$F$2:$F$24</c:f>
              <c:numCache>
                <c:formatCode>0.###</c:formatCode>
                <c:ptCount val="23"/>
                <c:pt idx="0">
                  <c:v>0.084683</c:v>
                </c:pt>
                <c:pt idx="1">
                  <c:v>0.26</c:v>
                </c:pt>
                <c:pt idx="2">
                  <c:v>0.51</c:v>
                </c:pt>
                <c:pt idx="3">
                  <c:v>1.03</c:v>
                </c:pt>
                <c:pt idx="4">
                  <c:v>2.06</c:v>
                </c:pt>
                <c:pt idx="5">
                  <c:v>4.12</c:v>
                </c:pt>
                <c:pt idx="6">
                  <c:v>8.23</c:v>
                </c:pt>
                <c:pt idx="7">
                  <c:v>17.71</c:v>
                </c:pt>
                <c:pt idx="8">
                  <c:v>36.24</c:v>
                </c:pt>
                <c:pt idx="9">
                  <c:v>72.39</c:v>
                </c:pt>
                <c:pt idx="10">
                  <c:v>144.43</c:v>
                </c:pt>
                <c:pt idx="11">
                  <c:v>287.34</c:v>
                </c:pt>
                <c:pt idx="12">
                  <c:v>570.4</c:v>
                </c:pt>
                <c:pt idx="13">
                  <c:v>1102.3</c:v>
                </c:pt>
                <c:pt idx="14">
                  <c:v>935.06</c:v>
                </c:pt>
                <c:pt idx="15">
                  <c:v>1374.81</c:v>
                </c:pt>
                <c:pt idx="16">
                  <c:v>1559.35</c:v>
                </c:pt>
                <c:pt idx="17">
                  <c:v>1560.15</c:v>
                </c:pt>
                <c:pt idx="18">
                  <c:v>1560.15</c:v>
                </c:pt>
                <c:pt idx="19">
                  <c:v>1560.16</c:v>
                </c:pt>
                <c:pt idx="20">
                  <c:v>1560.13</c:v>
                </c:pt>
                <c:pt idx="21">
                  <c:v>1560.22</c:v>
                </c:pt>
                <c:pt idx="22">
                  <c:v>1560.21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32 QP</c:v>
                </c:pt>
              </c:strCache>
            </c:strRef>
          </c:tx>
          <c:spPr>
            <a:solidFill>
              <a:srgbClr val="FF6B2C"/>
            </a:solidFill>
            <a:ln w="28575" cap="flat">
              <a:solidFill>
                <a:srgbClr val="FF6B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FF6B2C"/>
              </a:solidFill>
              <a:ln w="10160" cap="flat">
                <a:solidFill>
                  <a:srgbClr val="FF6B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Sheet1!$G$2:$G$24</c:f>
              <c:numCache>
                <c:formatCode>0.###</c:formatCode>
                <c:ptCount val="23"/>
                <c:pt idx="0">
                  <c:v>0.092979</c:v>
                </c:pt>
                <c:pt idx="1">
                  <c:v>0.25</c:v>
                </c:pt>
                <c:pt idx="2">
                  <c:v>0.51</c:v>
                </c:pt>
                <c:pt idx="3">
                  <c:v>1.02</c:v>
                </c:pt>
                <c:pt idx="4">
                  <c:v>2.04</c:v>
                </c:pt>
                <c:pt idx="5">
                  <c:v>4.06</c:v>
                </c:pt>
                <c:pt idx="6">
                  <c:v>8.12</c:v>
                </c:pt>
                <c:pt idx="7">
                  <c:v>17.38</c:v>
                </c:pt>
                <c:pt idx="8">
                  <c:v>36.06</c:v>
                </c:pt>
                <c:pt idx="9">
                  <c:v>71.95</c:v>
                </c:pt>
                <c:pt idx="10">
                  <c:v>143.04</c:v>
                </c:pt>
                <c:pt idx="11">
                  <c:v>285.54</c:v>
                </c:pt>
                <c:pt idx="12">
                  <c:v>564.7</c:v>
                </c:pt>
                <c:pt idx="13">
                  <c:v>1104.19</c:v>
                </c:pt>
                <c:pt idx="14">
                  <c:v>931.35</c:v>
                </c:pt>
                <c:pt idx="15">
                  <c:v>1353.66</c:v>
                </c:pt>
                <c:pt idx="16">
                  <c:v>1559.88</c:v>
                </c:pt>
                <c:pt idx="17">
                  <c:v>1560.01</c:v>
                </c:pt>
                <c:pt idx="18">
                  <c:v>1560.07</c:v>
                </c:pt>
                <c:pt idx="19">
                  <c:v>1560.1</c:v>
                </c:pt>
                <c:pt idx="20">
                  <c:v>1560.09</c:v>
                </c:pt>
                <c:pt idx="21">
                  <c:v>1560.1</c:v>
                </c:pt>
                <c:pt idx="22">
                  <c:v>1560.08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64 QP</c:v>
                </c:pt>
              </c:strCache>
            </c:strRef>
          </c:tx>
          <c:spPr>
            <a:solidFill>
              <a:srgbClr val="8F7CEC"/>
            </a:solidFill>
            <a:ln w="28575" cap="flat">
              <a:solidFill>
                <a:srgbClr val="8F7C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8F7CEC"/>
              </a:solidFill>
              <a:ln w="10160" cap="flat">
                <a:solidFill>
                  <a:srgbClr val="8F7C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Sheet1!$H$2:$H$24</c:f>
              <c:numCache>
                <c:formatCode>0.###</c:formatCode>
                <c:ptCount val="23"/>
                <c:pt idx="0">
                  <c:v>0.10957</c:v>
                </c:pt>
                <c:pt idx="1">
                  <c:v>0.26</c:v>
                </c:pt>
                <c:pt idx="2">
                  <c:v>0.52</c:v>
                </c:pt>
                <c:pt idx="3">
                  <c:v>1.04</c:v>
                </c:pt>
                <c:pt idx="4">
                  <c:v>2.07</c:v>
                </c:pt>
                <c:pt idx="5">
                  <c:v>4.15</c:v>
                </c:pt>
                <c:pt idx="6">
                  <c:v>8.27</c:v>
                </c:pt>
                <c:pt idx="7">
                  <c:v>17.79</c:v>
                </c:pt>
                <c:pt idx="8">
                  <c:v>36.82</c:v>
                </c:pt>
                <c:pt idx="9">
                  <c:v>73.57</c:v>
                </c:pt>
                <c:pt idx="10">
                  <c:v>147.1</c:v>
                </c:pt>
                <c:pt idx="11">
                  <c:v>292.92</c:v>
                </c:pt>
                <c:pt idx="12">
                  <c:v>578.24</c:v>
                </c:pt>
                <c:pt idx="13">
                  <c:v>1117.2</c:v>
                </c:pt>
                <c:pt idx="14">
                  <c:v>920.99</c:v>
                </c:pt>
                <c:pt idx="15">
                  <c:v>1323.41</c:v>
                </c:pt>
                <c:pt idx="16">
                  <c:v>1559.45</c:v>
                </c:pt>
                <c:pt idx="17">
                  <c:v>1559.85</c:v>
                </c:pt>
                <c:pt idx="18">
                  <c:v>1558.59</c:v>
                </c:pt>
                <c:pt idx="19">
                  <c:v>1559.74</c:v>
                </c:pt>
                <c:pt idx="20">
                  <c:v>1559.88</c:v>
                </c:pt>
                <c:pt idx="21">
                  <c:v>1559.85</c:v>
                </c:pt>
                <c:pt idx="22">
                  <c:v>1559.89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Message Size (Bytes)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 rot="-2700000"/>
          <a:lstStyle/>
          <a:p>
            <a:pPr>
              <a:defRPr sz="74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Bandwidth (GB/s)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 w="12700" cap="flat">
          <a:solidFill>
            <a:srgbClr val="00000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4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QP</c:v>
                </c:pt>
              </c:strCache>
            </c:strRef>
          </c:tx>
          <c:spPr>
            <a:solidFill>
              <a:srgbClr val="C1A968"/>
            </a:solidFill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C1A968"/>
              </a:solidFill>
              <a:ln w="1016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0.###</c:formatCode>
                <c:ptCount val="23"/>
                <c:pt idx="0">
                  <c:v>0.040281</c:v>
                </c:pt>
                <c:pt idx="1">
                  <c:v>0.081414</c:v>
                </c:pt>
                <c:pt idx="2">
                  <c:v>0.16</c:v>
                </c:pt>
                <c:pt idx="3">
                  <c:v>0.32</c:v>
                </c:pt>
                <c:pt idx="4">
                  <c:v>0.66</c:v>
                </c:pt>
                <c:pt idx="5">
                  <c:v>1.32</c:v>
                </c:pt>
                <c:pt idx="6">
                  <c:v>2.63</c:v>
                </c:pt>
                <c:pt idx="7">
                  <c:v>5.27</c:v>
                </c:pt>
                <c:pt idx="8">
                  <c:v>10.59</c:v>
                </c:pt>
                <c:pt idx="9">
                  <c:v>19.67</c:v>
                </c:pt>
                <c:pt idx="10">
                  <c:v>22.92</c:v>
                </c:pt>
                <c:pt idx="11">
                  <c:v>25.34</c:v>
                </c:pt>
                <c:pt idx="12">
                  <c:v>51.74</c:v>
                </c:pt>
                <c:pt idx="13">
                  <c:v>102.81</c:v>
                </c:pt>
                <c:pt idx="14">
                  <c:v>191.13</c:v>
                </c:pt>
                <c:pt idx="15">
                  <c:v>313.85</c:v>
                </c:pt>
                <c:pt idx="16">
                  <c:v>469.17</c:v>
                </c:pt>
                <c:pt idx="17">
                  <c:v>552.79</c:v>
                </c:pt>
                <c:pt idx="18">
                  <c:v>569.43</c:v>
                </c:pt>
                <c:pt idx="19">
                  <c:v>572.15</c:v>
                </c:pt>
                <c:pt idx="20">
                  <c:v>573.25</c:v>
                </c:pt>
                <c:pt idx="21">
                  <c:v>573.89</c:v>
                </c:pt>
                <c:pt idx="22">
                  <c:v>574.29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QP</c:v>
                </c:pt>
              </c:strCache>
            </c:strRef>
          </c:tx>
          <c:spPr>
            <a:solidFill>
              <a:srgbClr val="00C2DE"/>
            </a:solidFill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00C2DE"/>
              </a:solidFill>
              <a:ln w="1016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0.###</c:formatCode>
                <c:ptCount val="23"/>
                <c:pt idx="0">
                  <c:v>0.041268</c:v>
                </c:pt>
                <c:pt idx="1">
                  <c:v>0.082692</c:v>
                </c:pt>
                <c:pt idx="2">
                  <c:v>0.16</c:v>
                </c:pt>
                <c:pt idx="3">
                  <c:v>0.32</c:v>
                </c:pt>
                <c:pt idx="4">
                  <c:v>0.65</c:v>
                </c:pt>
                <c:pt idx="5">
                  <c:v>1.4</c:v>
                </c:pt>
                <c:pt idx="6">
                  <c:v>2.81</c:v>
                </c:pt>
                <c:pt idx="7">
                  <c:v>5.65</c:v>
                </c:pt>
                <c:pt idx="8">
                  <c:v>9.84</c:v>
                </c:pt>
                <c:pt idx="9">
                  <c:v>19.45</c:v>
                </c:pt>
                <c:pt idx="10">
                  <c:v>22.95</c:v>
                </c:pt>
                <c:pt idx="11">
                  <c:v>25.66</c:v>
                </c:pt>
                <c:pt idx="12">
                  <c:v>53.32</c:v>
                </c:pt>
                <c:pt idx="13">
                  <c:v>103.99</c:v>
                </c:pt>
                <c:pt idx="14">
                  <c:v>185.9</c:v>
                </c:pt>
                <c:pt idx="15">
                  <c:v>318.65</c:v>
                </c:pt>
                <c:pt idx="16">
                  <c:v>464.03</c:v>
                </c:pt>
                <c:pt idx="17">
                  <c:v>595.43</c:v>
                </c:pt>
                <c:pt idx="18">
                  <c:v>714.04</c:v>
                </c:pt>
                <c:pt idx="19">
                  <c:v>780.01</c:v>
                </c:pt>
                <c:pt idx="20">
                  <c:v>779.77</c:v>
                </c:pt>
                <c:pt idx="21">
                  <c:v>779.98</c:v>
                </c:pt>
                <c:pt idx="22">
                  <c:v>780.05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QP</c:v>
                </c:pt>
              </c:strCache>
            </c:strRef>
          </c:tx>
          <c:spPr>
            <a:solidFill>
              <a:srgbClr val="5B8FF9"/>
            </a:solidFill>
            <a:ln w="28575" cap="flat">
              <a:solidFill>
                <a:srgbClr val="5B8FF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5B8FF9"/>
              </a:solidFill>
              <a:ln w="10160" cap="flat">
                <a:solidFill>
                  <a:srgbClr val="5B8FF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Sheet1!$D$2:$D$24</c:f>
              <c:numCache>
                <c:formatCode>0.###</c:formatCode>
                <c:ptCount val="23"/>
                <c:pt idx="0">
                  <c:v>0.065227</c:v>
                </c:pt>
                <c:pt idx="1">
                  <c:v>0.13</c:v>
                </c:pt>
                <c:pt idx="2">
                  <c:v>0.26</c:v>
                </c:pt>
                <c:pt idx="3">
                  <c:v>0.52</c:v>
                </c:pt>
                <c:pt idx="4">
                  <c:v>1.05</c:v>
                </c:pt>
                <c:pt idx="5">
                  <c:v>2.09</c:v>
                </c:pt>
                <c:pt idx="6">
                  <c:v>4.18</c:v>
                </c:pt>
                <c:pt idx="7">
                  <c:v>8.4</c:v>
                </c:pt>
                <c:pt idx="8">
                  <c:v>16.06</c:v>
                </c:pt>
                <c:pt idx="9">
                  <c:v>20.1</c:v>
                </c:pt>
                <c:pt idx="10">
                  <c:v>23.81</c:v>
                </c:pt>
                <c:pt idx="11">
                  <c:v>25.89</c:v>
                </c:pt>
                <c:pt idx="12">
                  <c:v>53.35</c:v>
                </c:pt>
                <c:pt idx="13">
                  <c:v>103.61</c:v>
                </c:pt>
                <c:pt idx="14">
                  <c:v>186.51</c:v>
                </c:pt>
                <c:pt idx="15">
                  <c:v>316.79</c:v>
                </c:pt>
                <c:pt idx="16">
                  <c:v>466.34</c:v>
                </c:pt>
                <c:pt idx="17">
                  <c:v>608.53</c:v>
                </c:pt>
                <c:pt idx="18">
                  <c:v>715.64</c:v>
                </c:pt>
                <c:pt idx="19">
                  <c:v>780.02</c:v>
                </c:pt>
                <c:pt idx="20">
                  <c:v>780.04</c:v>
                </c:pt>
                <c:pt idx="21">
                  <c:v>780.08</c:v>
                </c:pt>
                <c:pt idx="22">
                  <c:v>780.09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 QP</c:v>
                </c:pt>
              </c:strCache>
            </c:strRef>
          </c:tx>
          <c:spPr>
            <a:solidFill>
              <a:srgbClr val="3CCB8C"/>
            </a:solidFill>
            <a:ln w="28575" cap="flat">
              <a:solidFill>
                <a:srgbClr val="3CC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3CCB8C"/>
              </a:solidFill>
              <a:ln w="10160" cap="flat">
                <a:solidFill>
                  <a:srgbClr val="3CC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Sheet1!$E$2:$E$24</c:f>
              <c:numCache>
                <c:formatCode>0.###</c:formatCode>
                <c:ptCount val="23"/>
                <c:pt idx="0">
                  <c:v>0.04293</c:v>
                </c:pt>
                <c:pt idx="1">
                  <c:v>0.098699</c:v>
                </c:pt>
                <c:pt idx="2">
                  <c:v>0.2</c:v>
                </c:pt>
                <c:pt idx="3">
                  <c:v>0.39</c:v>
                </c:pt>
                <c:pt idx="4">
                  <c:v>0.82</c:v>
                </c:pt>
                <c:pt idx="5">
                  <c:v>1.62</c:v>
                </c:pt>
                <c:pt idx="6">
                  <c:v>3.28</c:v>
                </c:pt>
                <c:pt idx="7">
                  <c:v>6.88</c:v>
                </c:pt>
                <c:pt idx="8">
                  <c:v>13.89</c:v>
                </c:pt>
                <c:pt idx="9">
                  <c:v>18.57</c:v>
                </c:pt>
                <c:pt idx="10">
                  <c:v>23.59</c:v>
                </c:pt>
                <c:pt idx="11">
                  <c:v>25.93</c:v>
                </c:pt>
                <c:pt idx="12">
                  <c:v>53.26</c:v>
                </c:pt>
                <c:pt idx="13">
                  <c:v>103.82</c:v>
                </c:pt>
                <c:pt idx="14">
                  <c:v>191.52</c:v>
                </c:pt>
                <c:pt idx="15">
                  <c:v>313.63</c:v>
                </c:pt>
                <c:pt idx="16">
                  <c:v>460.92</c:v>
                </c:pt>
                <c:pt idx="17">
                  <c:v>604.23</c:v>
                </c:pt>
                <c:pt idx="18">
                  <c:v>717.03</c:v>
                </c:pt>
                <c:pt idx="19">
                  <c:v>780.11</c:v>
                </c:pt>
                <c:pt idx="20">
                  <c:v>780.1</c:v>
                </c:pt>
                <c:pt idx="21">
                  <c:v>780.11</c:v>
                </c:pt>
                <c:pt idx="22">
                  <c:v>780.12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16 QP</c:v>
                </c:pt>
              </c:strCache>
            </c:strRef>
          </c:tx>
          <c:spPr>
            <a:solidFill>
              <a:srgbClr val="D96AA7"/>
            </a:solidFill>
            <a:ln w="28575" cap="flat">
              <a:solidFill>
                <a:srgbClr val="D96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D96AA7"/>
              </a:solidFill>
              <a:ln w="10160" cap="flat">
                <a:solidFill>
                  <a:srgbClr val="D96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Sheet1!$F$2:$F$24</c:f>
              <c:numCache>
                <c:formatCode>0.###</c:formatCode>
                <c:ptCount val="23"/>
                <c:pt idx="0">
                  <c:v>0.042152</c:v>
                </c:pt>
                <c:pt idx="1">
                  <c:v>0.099489</c:v>
                </c:pt>
                <c:pt idx="2">
                  <c:v>0.2</c:v>
                </c:pt>
                <c:pt idx="3">
                  <c:v>0.4</c:v>
                </c:pt>
                <c:pt idx="4">
                  <c:v>0.79</c:v>
                </c:pt>
                <c:pt idx="5">
                  <c:v>1.6</c:v>
                </c:pt>
                <c:pt idx="6">
                  <c:v>3.17</c:v>
                </c:pt>
                <c:pt idx="7">
                  <c:v>6.35</c:v>
                </c:pt>
                <c:pt idx="8">
                  <c:v>12.83</c:v>
                </c:pt>
                <c:pt idx="9">
                  <c:v>18.58</c:v>
                </c:pt>
                <c:pt idx="10">
                  <c:v>23.08</c:v>
                </c:pt>
                <c:pt idx="11">
                  <c:v>25.92</c:v>
                </c:pt>
                <c:pt idx="12">
                  <c:v>53.22</c:v>
                </c:pt>
                <c:pt idx="13">
                  <c:v>103.61</c:v>
                </c:pt>
                <c:pt idx="14">
                  <c:v>188.37</c:v>
                </c:pt>
                <c:pt idx="15">
                  <c:v>311.26</c:v>
                </c:pt>
                <c:pt idx="16">
                  <c:v>462.41</c:v>
                </c:pt>
                <c:pt idx="17">
                  <c:v>608.14</c:v>
                </c:pt>
                <c:pt idx="18">
                  <c:v>717.6</c:v>
                </c:pt>
                <c:pt idx="19">
                  <c:v>780.11</c:v>
                </c:pt>
                <c:pt idx="20">
                  <c:v>780.12</c:v>
                </c:pt>
                <c:pt idx="21">
                  <c:v>780.13</c:v>
                </c:pt>
                <c:pt idx="22">
                  <c:v>780.13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32 QP</c:v>
                </c:pt>
              </c:strCache>
            </c:strRef>
          </c:tx>
          <c:spPr>
            <a:solidFill>
              <a:srgbClr val="FF6B2C"/>
            </a:solidFill>
            <a:ln w="28575" cap="flat">
              <a:solidFill>
                <a:srgbClr val="FF6B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FF6B2C"/>
              </a:solidFill>
              <a:ln w="10160" cap="flat">
                <a:solidFill>
                  <a:srgbClr val="FF6B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Sheet1!$G$2:$G$24</c:f>
              <c:numCache>
                <c:formatCode>0.###</c:formatCode>
                <c:ptCount val="23"/>
                <c:pt idx="0">
                  <c:v>0.054871</c:v>
                </c:pt>
                <c:pt idx="1">
                  <c:v>0.13</c:v>
                </c:pt>
                <c:pt idx="2">
                  <c:v>0.27</c:v>
                </c:pt>
                <c:pt idx="3">
                  <c:v>0.53</c:v>
                </c:pt>
                <c:pt idx="4">
                  <c:v>1.07</c:v>
                </c:pt>
                <c:pt idx="5">
                  <c:v>2.13</c:v>
                </c:pt>
                <c:pt idx="6">
                  <c:v>4.25</c:v>
                </c:pt>
                <c:pt idx="7">
                  <c:v>8.51</c:v>
                </c:pt>
                <c:pt idx="8">
                  <c:v>15.98</c:v>
                </c:pt>
                <c:pt idx="9">
                  <c:v>20.04</c:v>
                </c:pt>
                <c:pt idx="10">
                  <c:v>23.58</c:v>
                </c:pt>
                <c:pt idx="11">
                  <c:v>25.9</c:v>
                </c:pt>
                <c:pt idx="12">
                  <c:v>52.78</c:v>
                </c:pt>
                <c:pt idx="13">
                  <c:v>102.33</c:v>
                </c:pt>
                <c:pt idx="14">
                  <c:v>188.28</c:v>
                </c:pt>
                <c:pt idx="15">
                  <c:v>312.46</c:v>
                </c:pt>
                <c:pt idx="16">
                  <c:v>461.59</c:v>
                </c:pt>
                <c:pt idx="17">
                  <c:v>608.05</c:v>
                </c:pt>
                <c:pt idx="18">
                  <c:v>718.65</c:v>
                </c:pt>
                <c:pt idx="19">
                  <c:v>780.1</c:v>
                </c:pt>
                <c:pt idx="20">
                  <c:v>780.11</c:v>
                </c:pt>
                <c:pt idx="21">
                  <c:v>780.11</c:v>
                </c:pt>
                <c:pt idx="22">
                  <c:v>780.12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64 QP</c:v>
                </c:pt>
              </c:strCache>
            </c:strRef>
          </c:tx>
          <c:spPr>
            <a:solidFill>
              <a:srgbClr val="8F7CEC"/>
            </a:solidFill>
            <a:ln w="28575" cap="flat">
              <a:solidFill>
                <a:srgbClr val="8F7C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8F7CEC"/>
              </a:solidFill>
              <a:ln w="10160" cap="flat">
                <a:solidFill>
                  <a:srgbClr val="8F7C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Sheet1!$H$2:$H$24</c:f>
              <c:numCache>
                <c:formatCode>0.###</c:formatCode>
                <c:ptCount val="23"/>
                <c:pt idx="0">
                  <c:v>0.05644</c:v>
                </c:pt>
                <c:pt idx="1">
                  <c:v>0.13</c:v>
                </c:pt>
                <c:pt idx="2">
                  <c:v>0.27</c:v>
                </c:pt>
                <c:pt idx="3">
                  <c:v>0.54</c:v>
                </c:pt>
                <c:pt idx="4">
                  <c:v>1.08</c:v>
                </c:pt>
                <c:pt idx="5">
                  <c:v>2.15</c:v>
                </c:pt>
                <c:pt idx="6">
                  <c:v>4.3</c:v>
                </c:pt>
                <c:pt idx="7">
                  <c:v>8.6</c:v>
                </c:pt>
                <c:pt idx="8">
                  <c:v>16.04</c:v>
                </c:pt>
                <c:pt idx="9">
                  <c:v>20.14</c:v>
                </c:pt>
                <c:pt idx="10">
                  <c:v>23.62</c:v>
                </c:pt>
                <c:pt idx="11">
                  <c:v>25.81</c:v>
                </c:pt>
                <c:pt idx="12">
                  <c:v>52.6</c:v>
                </c:pt>
                <c:pt idx="13">
                  <c:v>102.96</c:v>
                </c:pt>
                <c:pt idx="14">
                  <c:v>187.43</c:v>
                </c:pt>
                <c:pt idx="15">
                  <c:v>312.78</c:v>
                </c:pt>
                <c:pt idx="16">
                  <c:v>463.77</c:v>
                </c:pt>
                <c:pt idx="17">
                  <c:v>610.35</c:v>
                </c:pt>
                <c:pt idx="18">
                  <c:v>720.83</c:v>
                </c:pt>
                <c:pt idx="19">
                  <c:v>780.12</c:v>
                </c:pt>
                <c:pt idx="20">
                  <c:v>780.12</c:v>
                </c:pt>
                <c:pt idx="21">
                  <c:v>780.12</c:v>
                </c:pt>
                <c:pt idx="22">
                  <c:v>780.12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Message Size (Bytes)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 rot="-2700000"/>
          <a:lstStyle/>
          <a:p>
            <a:pPr>
              <a:defRPr sz="74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Bandwidth (GB/s)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 w="12700" cap="flat">
          <a:solidFill>
            <a:srgbClr val="00000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4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QP</c:v>
                </c:pt>
              </c:strCache>
            </c:strRef>
          </c:tx>
          <c:spPr>
            <a:solidFill>
              <a:srgbClr val="C1A968"/>
            </a:solidFill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C1A968"/>
              </a:solidFill>
              <a:ln w="1016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0.###</c:formatCode>
                <c:ptCount val="23"/>
                <c:pt idx="0">
                  <c:v>0.043354</c:v>
                </c:pt>
                <c:pt idx="1">
                  <c:v>0.093835</c:v>
                </c:pt>
                <c:pt idx="2">
                  <c:v>0.183418</c:v>
                </c:pt>
                <c:pt idx="3">
                  <c:v>0.35</c:v>
                </c:pt>
                <c:pt idx="4">
                  <c:v>0.73</c:v>
                </c:pt>
                <c:pt idx="5">
                  <c:v>1.41</c:v>
                </c:pt>
                <c:pt idx="6">
                  <c:v>2.97</c:v>
                </c:pt>
                <c:pt idx="7">
                  <c:v>5.89</c:v>
                </c:pt>
                <c:pt idx="8">
                  <c:v>13.99</c:v>
                </c:pt>
                <c:pt idx="9">
                  <c:v>14.48</c:v>
                </c:pt>
                <c:pt idx="10">
                  <c:v>13.91</c:v>
                </c:pt>
                <c:pt idx="11">
                  <c:v>25.69</c:v>
                </c:pt>
                <c:pt idx="12">
                  <c:v>51.67</c:v>
                </c:pt>
                <c:pt idx="13">
                  <c:v>105.06</c:v>
                </c:pt>
                <c:pt idx="14">
                  <c:v>228.81</c:v>
                </c:pt>
                <c:pt idx="15">
                  <c:v>360.64</c:v>
                </c:pt>
                <c:pt idx="16">
                  <c:v>525.11</c:v>
                </c:pt>
                <c:pt idx="17">
                  <c:v>947.44</c:v>
                </c:pt>
                <c:pt idx="18">
                  <c:v>1136.44</c:v>
                </c:pt>
                <c:pt idx="19">
                  <c:v>1138.89</c:v>
                </c:pt>
                <c:pt idx="20">
                  <c:v>1143.45</c:v>
                </c:pt>
                <c:pt idx="21">
                  <c:v>1144.84</c:v>
                </c:pt>
                <c:pt idx="22">
                  <c:v>1146.42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QP</c:v>
                </c:pt>
              </c:strCache>
            </c:strRef>
          </c:tx>
          <c:spPr>
            <a:solidFill>
              <a:srgbClr val="00C2DE"/>
            </a:solidFill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00C2DE"/>
              </a:solidFill>
              <a:ln w="1016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0.###</c:formatCode>
                <c:ptCount val="23"/>
                <c:pt idx="0">
                  <c:v>0.04657</c:v>
                </c:pt>
                <c:pt idx="1">
                  <c:v>0.091633</c:v>
                </c:pt>
                <c:pt idx="2">
                  <c:v>0.183213</c:v>
                </c:pt>
                <c:pt idx="3">
                  <c:v>0.37</c:v>
                </c:pt>
                <c:pt idx="4">
                  <c:v>0.83</c:v>
                </c:pt>
                <c:pt idx="5">
                  <c:v>1.68</c:v>
                </c:pt>
                <c:pt idx="6">
                  <c:v>4.88</c:v>
                </c:pt>
                <c:pt idx="7">
                  <c:v>9.71</c:v>
                </c:pt>
                <c:pt idx="8">
                  <c:v>11.62</c:v>
                </c:pt>
                <c:pt idx="9">
                  <c:v>13.4</c:v>
                </c:pt>
                <c:pt idx="10">
                  <c:v>14.59</c:v>
                </c:pt>
                <c:pt idx="11">
                  <c:v>25.54</c:v>
                </c:pt>
                <c:pt idx="12">
                  <c:v>51.77</c:v>
                </c:pt>
                <c:pt idx="13">
                  <c:v>120.45</c:v>
                </c:pt>
                <c:pt idx="14">
                  <c:v>224.75</c:v>
                </c:pt>
                <c:pt idx="15">
                  <c:v>353.5</c:v>
                </c:pt>
                <c:pt idx="16">
                  <c:v>572.05</c:v>
                </c:pt>
                <c:pt idx="17">
                  <c:v>761.01</c:v>
                </c:pt>
                <c:pt idx="18">
                  <c:v>816.19</c:v>
                </c:pt>
                <c:pt idx="19">
                  <c:v>946.83</c:v>
                </c:pt>
                <c:pt idx="20">
                  <c:v>1453.07</c:v>
                </c:pt>
                <c:pt idx="21">
                  <c:v>1551.02</c:v>
                </c:pt>
                <c:pt idx="22">
                  <c:v>1556.17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QP</c:v>
                </c:pt>
              </c:strCache>
            </c:strRef>
          </c:tx>
          <c:spPr>
            <a:solidFill>
              <a:srgbClr val="5B8FF9"/>
            </a:solidFill>
            <a:ln w="28575" cap="flat">
              <a:solidFill>
                <a:srgbClr val="5B8FF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5B8FF9"/>
              </a:solidFill>
              <a:ln w="10160" cap="flat">
                <a:solidFill>
                  <a:srgbClr val="5B8FF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Sheet1!$D$2:$D$24</c:f>
              <c:numCache>
                <c:formatCode>0.###</c:formatCode>
                <c:ptCount val="23"/>
                <c:pt idx="0">
                  <c:v>0.048959</c:v>
                </c:pt>
                <c:pt idx="1">
                  <c:v>0.099842</c:v>
                </c:pt>
                <c:pt idx="2">
                  <c:v>0.29</c:v>
                </c:pt>
                <c:pt idx="3">
                  <c:v>0.57</c:v>
                </c:pt>
                <c:pt idx="4">
                  <c:v>1.13</c:v>
                </c:pt>
                <c:pt idx="5">
                  <c:v>2.27</c:v>
                </c:pt>
                <c:pt idx="6">
                  <c:v>4.55</c:v>
                </c:pt>
                <c:pt idx="7">
                  <c:v>9.13</c:v>
                </c:pt>
                <c:pt idx="8">
                  <c:v>11.67</c:v>
                </c:pt>
                <c:pt idx="9">
                  <c:v>13.43</c:v>
                </c:pt>
                <c:pt idx="10">
                  <c:v>14.98</c:v>
                </c:pt>
                <c:pt idx="11">
                  <c:v>25.72</c:v>
                </c:pt>
                <c:pt idx="12">
                  <c:v>52.07</c:v>
                </c:pt>
                <c:pt idx="13">
                  <c:v>111.36</c:v>
                </c:pt>
                <c:pt idx="14">
                  <c:v>215.91</c:v>
                </c:pt>
                <c:pt idx="15">
                  <c:v>356.41</c:v>
                </c:pt>
                <c:pt idx="16">
                  <c:v>521.34</c:v>
                </c:pt>
                <c:pt idx="17">
                  <c:v>692.43</c:v>
                </c:pt>
                <c:pt idx="18">
                  <c:v>1073.07</c:v>
                </c:pt>
                <c:pt idx="19">
                  <c:v>970.32</c:v>
                </c:pt>
                <c:pt idx="20">
                  <c:v>1430.92</c:v>
                </c:pt>
                <c:pt idx="21">
                  <c:v>1554.78</c:v>
                </c:pt>
                <c:pt idx="22">
                  <c:v>1559.27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 QP</c:v>
                </c:pt>
              </c:strCache>
            </c:strRef>
          </c:tx>
          <c:spPr>
            <a:solidFill>
              <a:srgbClr val="3CCB8C"/>
            </a:solidFill>
            <a:ln w="28575" cap="flat">
              <a:solidFill>
                <a:srgbClr val="3CC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3CCB8C"/>
              </a:solidFill>
              <a:ln w="10160" cap="flat">
                <a:solidFill>
                  <a:srgbClr val="3CC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Sheet1!$E$2:$E$24</c:f>
              <c:numCache>
                <c:formatCode>0.###</c:formatCode>
                <c:ptCount val="23"/>
                <c:pt idx="0">
                  <c:v>0.045675</c:v>
                </c:pt>
                <c:pt idx="1">
                  <c:v>0.145207</c:v>
                </c:pt>
                <c:pt idx="2">
                  <c:v>0.29</c:v>
                </c:pt>
                <c:pt idx="3">
                  <c:v>0.58</c:v>
                </c:pt>
                <c:pt idx="4">
                  <c:v>1.15</c:v>
                </c:pt>
                <c:pt idx="5">
                  <c:v>2.31</c:v>
                </c:pt>
                <c:pt idx="6">
                  <c:v>4.62</c:v>
                </c:pt>
                <c:pt idx="7">
                  <c:v>9.27</c:v>
                </c:pt>
                <c:pt idx="8">
                  <c:v>11.75</c:v>
                </c:pt>
                <c:pt idx="9">
                  <c:v>13.95</c:v>
                </c:pt>
                <c:pt idx="10">
                  <c:v>15.81</c:v>
                </c:pt>
                <c:pt idx="11">
                  <c:v>26.07</c:v>
                </c:pt>
                <c:pt idx="12">
                  <c:v>53.31</c:v>
                </c:pt>
                <c:pt idx="13">
                  <c:v>109.4</c:v>
                </c:pt>
                <c:pt idx="14">
                  <c:v>211.79</c:v>
                </c:pt>
                <c:pt idx="15">
                  <c:v>346.57</c:v>
                </c:pt>
                <c:pt idx="16">
                  <c:v>572.64</c:v>
                </c:pt>
                <c:pt idx="17">
                  <c:v>922.17</c:v>
                </c:pt>
                <c:pt idx="18">
                  <c:v>986.36</c:v>
                </c:pt>
                <c:pt idx="19">
                  <c:v>955.67</c:v>
                </c:pt>
                <c:pt idx="20">
                  <c:v>1424.1</c:v>
                </c:pt>
                <c:pt idx="21">
                  <c:v>1550.27</c:v>
                </c:pt>
                <c:pt idx="22">
                  <c:v>1558.04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16 QP</c:v>
                </c:pt>
              </c:strCache>
            </c:strRef>
          </c:tx>
          <c:spPr>
            <a:solidFill>
              <a:srgbClr val="D96AA7"/>
            </a:solidFill>
            <a:ln w="28575" cap="flat">
              <a:solidFill>
                <a:srgbClr val="D96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D96AA7"/>
              </a:solidFill>
              <a:ln w="10160" cap="flat">
                <a:solidFill>
                  <a:srgbClr val="D96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Sheet1!$F$2:$F$24</c:f>
              <c:numCache>
                <c:formatCode>0.###</c:formatCode>
                <c:ptCount val="23"/>
                <c:pt idx="0">
                  <c:v>0.058643</c:v>
                </c:pt>
                <c:pt idx="1">
                  <c:v>0.161095</c:v>
                </c:pt>
                <c:pt idx="2">
                  <c:v>0.32</c:v>
                </c:pt>
                <c:pt idx="3">
                  <c:v>0.64</c:v>
                </c:pt>
                <c:pt idx="4">
                  <c:v>1.29</c:v>
                </c:pt>
                <c:pt idx="5">
                  <c:v>2.58</c:v>
                </c:pt>
                <c:pt idx="6">
                  <c:v>5.16</c:v>
                </c:pt>
                <c:pt idx="7">
                  <c:v>10.04</c:v>
                </c:pt>
                <c:pt idx="8">
                  <c:v>12.31</c:v>
                </c:pt>
                <c:pt idx="9">
                  <c:v>14.4</c:v>
                </c:pt>
                <c:pt idx="10">
                  <c:v>17.09</c:v>
                </c:pt>
                <c:pt idx="11">
                  <c:v>26.18</c:v>
                </c:pt>
                <c:pt idx="12">
                  <c:v>53.63</c:v>
                </c:pt>
                <c:pt idx="13">
                  <c:v>108.57</c:v>
                </c:pt>
                <c:pt idx="14">
                  <c:v>205.38</c:v>
                </c:pt>
                <c:pt idx="15">
                  <c:v>389.87</c:v>
                </c:pt>
                <c:pt idx="16">
                  <c:v>528.16</c:v>
                </c:pt>
                <c:pt idx="17">
                  <c:v>901.63</c:v>
                </c:pt>
                <c:pt idx="18">
                  <c:v>1088.11</c:v>
                </c:pt>
                <c:pt idx="19">
                  <c:v>948.8</c:v>
                </c:pt>
                <c:pt idx="20">
                  <c:v>1425.96</c:v>
                </c:pt>
                <c:pt idx="21">
                  <c:v>1553.53</c:v>
                </c:pt>
                <c:pt idx="22">
                  <c:v>1558.67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32 QP</c:v>
                </c:pt>
              </c:strCache>
            </c:strRef>
          </c:tx>
          <c:spPr>
            <a:solidFill>
              <a:srgbClr val="FF6B2C"/>
            </a:solidFill>
            <a:ln w="28575" cap="flat">
              <a:solidFill>
                <a:srgbClr val="FF6B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FF6B2C"/>
              </a:solidFill>
              <a:ln w="10160" cap="flat">
                <a:solidFill>
                  <a:srgbClr val="FF6B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Sheet1!$G$2:$G$24</c:f>
              <c:numCache>
                <c:formatCode>0.###</c:formatCode>
                <c:ptCount val="23"/>
                <c:pt idx="0">
                  <c:v>0.068039</c:v>
                </c:pt>
                <c:pt idx="1">
                  <c:v>0.161048</c:v>
                </c:pt>
                <c:pt idx="2">
                  <c:v>0.33</c:v>
                </c:pt>
                <c:pt idx="3">
                  <c:v>0.66</c:v>
                </c:pt>
                <c:pt idx="4">
                  <c:v>1.32</c:v>
                </c:pt>
                <c:pt idx="5">
                  <c:v>2.63</c:v>
                </c:pt>
                <c:pt idx="6">
                  <c:v>5.26</c:v>
                </c:pt>
                <c:pt idx="7">
                  <c:v>10.34</c:v>
                </c:pt>
                <c:pt idx="8">
                  <c:v>13.62</c:v>
                </c:pt>
                <c:pt idx="9">
                  <c:v>16.95</c:v>
                </c:pt>
                <c:pt idx="10">
                  <c:v>19.49</c:v>
                </c:pt>
                <c:pt idx="11">
                  <c:v>26.4</c:v>
                </c:pt>
                <c:pt idx="12">
                  <c:v>53.61</c:v>
                </c:pt>
                <c:pt idx="13">
                  <c:v>114.11</c:v>
                </c:pt>
                <c:pt idx="14">
                  <c:v>281.75</c:v>
                </c:pt>
                <c:pt idx="15">
                  <c:v>396.51</c:v>
                </c:pt>
                <c:pt idx="16">
                  <c:v>532.04</c:v>
                </c:pt>
                <c:pt idx="17">
                  <c:v>746.33</c:v>
                </c:pt>
                <c:pt idx="18">
                  <c:v>1087.67</c:v>
                </c:pt>
                <c:pt idx="19">
                  <c:v>938.65</c:v>
                </c:pt>
                <c:pt idx="20">
                  <c:v>1421.74</c:v>
                </c:pt>
                <c:pt idx="21">
                  <c:v>1550.39</c:v>
                </c:pt>
                <c:pt idx="22">
                  <c:v>1558.88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64 QP</c:v>
                </c:pt>
              </c:strCache>
            </c:strRef>
          </c:tx>
          <c:spPr>
            <a:solidFill>
              <a:srgbClr val="8F7CEC"/>
            </a:solidFill>
            <a:ln w="28575" cap="flat">
              <a:solidFill>
                <a:srgbClr val="8F7C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8F7CEC"/>
              </a:solidFill>
              <a:ln w="10160" cap="flat">
                <a:solidFill>
                  <a:srgbClr val="8F7C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Sheet1!$H$2:$H$24</c:f>
              <c:numCache>
                <c:formatCode>0.###</c:formatCode>
                <c:ptCount val="23"/>
                <c:pt idx="0">
                  <c:v>0.07553</c:v>
                </c:pt>
                <c:pt idx="1">
                  <c:v>0.165684</c:v>
                </c:pt>
                <c:pt idx="2">
                  <c:v>0.33</c:v>
                </c:pt>
                <c:pt idx="3">
                  <c:v>0.67</c:v>
                </c:pt>
                <c:pt idx="4">
                  <c:v>1.33</c:v>
                </c:pt>
                <c:pt idx="5">
                  <c:v>2.67</c:v>
                </c:pt>
                <c:pt idx="6">
                  <c:v>5.33</c:v>
                </c:pt>
                <c:pt idx="7">
                  <c:v>10.79</c:v>
                </c:pt>
                <c:pt idx="8">
                  <c:v>15.39</c:v>
                </c:pt>
                <c:pt idx="9">
                  <c:v>19.94</c:v>
                </c:pt>
                <c:pt idx="10">
                  <c:v>23.14</c:v>
                </c:pt>
                <c:pt idx="11">
                  <c:v>26.49</c:v>
                </c:pt>
                <c:pt idx="12">
                  <c:v>56.28</c:v>
                </c:pt>
                <c:pt idx="13">
                  <c:v>144.17</c:v>
                </c:pt>
                <c:pt idx="14">
                  <c:v>217.04</c:v>
                </c:pt>
                <c:pt idx="15">
                  <c:v>410.42</c:v>
                </c:pt>
                <c:pt idx="16">
                  <c:v>577</c:v>
                </c:pt>
                <c:pt idx="17">
                  <c:v>808.93</c:v>
                </c:pt>
                <c:pt idx="18">
                  <c:v>1089.52</c:v>
                </c:pt>
                <c:pt idx="19">
                  <c:v>934.63</c:v>
                </c:pt>
                <c:pt idx="20">
                  <c:v>1418.51</c:v>
                </c:pt>
                <c:pt idx="21">
                  <c:v>1552.3</c:v>
                </c:pt>
                <c:pt idx="22">
                  <c:v>1558.68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Message Size (Bytes)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 rot="-2700000"/>
          <a:lstStyle/>
          <a:p>
            <a:pPr>
              <a:defRPr sz="74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Bandwidth (GB/s)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 w="12700" cap="flat">
          <a:solidFill>
            <a:srgbClr val="00000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4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IB Write BW (Uni-direction)
Source range: A1:H24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IB Write BW (Bi-direction)
Source range: A1:H24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IB Write Imm BW (Uni-direction)
Source range: A1:H24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IB Write Imm BW (Bi-direction)
Source range: A1:H24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Write BW (Uni-direction) — Build 118 + Resp Rx S0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133856"/>
          <a:ext cx="10771632" cy="5193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Write BW (Bi-direction) — Build 118 + Resp Rx S0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133856"/>
          <a:ext cx="10771632" cy="5193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Write Imm BW (Uni-direction) — Build 118 + Resp Rx S0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133856"/>
          <a:ext cx="10771632" cy="5193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Write Imm BW (Bi-direction) — Build 118 + Resp Rx S0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133856"/>
          <a:ext cx="10771632" cy="5193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Vulcano IB Bandwidth — Build 118 + Resp Rx S0</dc:title>
  <dc:subject>Editable benchmark presentation</dc:subject>
  <dc:creator>Slide Generator</dc:creator>
  <cp:lastModifiedBy>Slide Generator</cp:lastModifiedBy>
  <cp:revision>1</cp:revision>
  <dcterms:created xsi:type="dcterms:W3CDTF">2026-08-04T18:37:59Z</dcterms:created>
  <dcterms:modified xsi:type="dcterms:W3CDTF">2026-08-04T18:37:59Z</dcterms:modified>
</cp:coreProperties>
</file>